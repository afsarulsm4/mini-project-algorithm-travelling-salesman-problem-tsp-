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3.xml.rels" ContentType="application/vnd.openxmlformats-package.relationships+xml"/>
  <Override PartName="/ppt/slideMasters/_rels/slideMaster1.xml.rels" ContentType="application/vnd.openxmlformats-package.relationships+xml"/>
  <Override PartName="/ppt/slideMasters/_rels/slideMaster2.xml.rels" ContentType="application/vnd.openxmlformats-package.relationships+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slideLayouts/slideLayout19.xml" ContentType="application/vnd.openxmlformats-officedocument.presentationml.slideLayout+xml"/>
  <Override PartName="/ppt/slideLayouts/slideLayout8.xml" ContentType="application/vnd.openxmlformats-officedocument.presentationml.slideLayout+xml"/>
  <Override PartName="/ppt/slideLayouts/slideLayout17.xml" ContentType="application/vnd.openxmlformats-officedocument.presentationml.slideLayout+xml"/>
  <Override PartName="/ppt/slideLayouts/slideLayout20.xml" ContentType="application/vnd.openxmlformats-officedocument.presentationml.slideLayout+xml"/>
  <Override PartName="/ppt/slideLayouts/slideLayout9.xml" ContentType="application/vnd.openxmlformats-officedocument.presentationml.slideLayout+xml"/>
  <Override PartName="/ppt/slideLayouts/slideLayout18.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34.xml.rels" ContentType="application/vnd.openxmlformats-package.relationships+xml"/>
  <Override PartName="/ppt/slideLayouts/_rels/slideLayout33.xml.rels" ContentType="application/vnd.openxmlformats-package.relationships+xml"/>
  <Override PartName="/ppt/slideLayouts/_rels/slideLayout9.xml.rels" ContentType="application/vnd.openxmlformats-package.relationships+xml"/>
  <Override PartName="/ppt/slideLayouts/_rels/slideLayout32.xml.rels" ContentType="application/vnd.openxmlformats-package.relationships+xml"/>
  <Override PartName="/ppt/slideLayouts/_rels/slideLayout21.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31.xml.rels" ContentType="application/vnd.openxmlformats-package.relationships+xml"/>
  <Override PartName="/ppt/slideLayouts/_rels/slideLayout20.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30.xml.rels" ContentType="application/vnd.openxmlformats-package.relationships+xml"/>
  <Override PartName="/ppt/slideLayouts/_rels/slideLayout29.xml.rels" ContentType="application/vnd.openxmlformats-package.relationships+xml"/>
  <Override PartName="/ppt/slideLayouts/_rels/slideLayout22.xml.rels" ContentType="application/vnd.openxmlformats-package.relationships+xml"/>
  <Override PartName="/ppt/slideLayouts/_rels/slideLayout14.xml.rels" ContentType="application/vnd.openxmlformats-package.relationships+xml"/>
  <Override PartName="/ppt/slideLayouts/_rels/slideLayout28.xml.rels" ContentType="application/vnd.openxmlformats-package.relationships+xml"/>
  <Override PartName="/ppt/slideLayouts/_rels/slideLayout36.xml.rels" ContentType="application/vnd.openxmlformats-package.relationships+xml"/>
  <Override PartName="/ppt/slideLayouts/_rels/slideLayout7.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7.xml.rels" ContentType="application/vnd.openxmlformats-package.relationships+xml"/>
  <Override PartName="/ppt/slideLayouts/_rels/slideLayout13.xml.rels" ContentType="application/vnd.openxmlformats-package.relationships+xml"/>
  <Override PartName="/ppt/slideLayouts/_rels/slideLayout3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5.xml.rels" ContentType="application/vnd.openxmlformats-package.relationships+xml"/>
  <Override PartName="/ppt/slideLayouts/_rels/slideLayout10.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6.xml" ContentType="application/vnd.openxmlformats-officedocument.presentationml.slideLayout+xml"/>
  <Override PartName="/ppt/slideLayouts/slideLayout16.xml" ContentType="application/vnd.openxmlformats-officedocument.presentationml.slideLayout+xml"/>
  <Override PartName="/ppt/slideLayouts/slideLayout7.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26.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33.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29.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s/_rels/slide14.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2.xml.rels" ContentType="application/vnd.openxmlformats-package.relationships+xml"/>
  <Override PartName="/ppt/slides/_rels/slide9.xml.rels" ContentType="application/vnd.openxmlformats-package.relationships+xml"/>
  <Override PartName="/ppt/slides/_rels/slide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4.xml" ContentType="application/vnd.openxmlformats-officedocument.presentationml.slide+xml"/>
  <Override PartName="/ppt/_rels/presentation.xml.rels" ContentType="application/vnd.openxmlformats-package.relationships+xml"/>
  <Override PartName="/ppt/media/image1.jpeg" ContentType="image/jpeg"/>
  <Override PartName="/ppt/media/image11.png" ContentType="image/png"/>
  <Override PartName="/ppt/media/image3.png" ContentType="image/png"/>
  <Override PartName="/ppt/media/image2.jpeg" ContentType="image/jpeg"/>
  <Override PartName="/ppt/media/image4.jpeg" ContentType="image/jpeg"/>
  <Override PartName="/ppt/media/image10.jpeg" ContentType="image/jpeg"/>
  <Override PartName="/ppt/media/image5.jpeg" ContentType="image/jpeg"/>
  <Override PartName="/ppt/media/image7.jpeg" ContentType="image/jpeg"/>
  <Override PartName="/ppt/media/image13.png" ContentType="image/png"/>
  <Override PartName="/ppt/media/image8.png" ContentType="image/png"/>
  <Override PartName="/ppt/media/image9.png" ContentType="image/png"/>
  <Override PartName="/ppt/media/image6.jpeg" ContentType="image/jpeg"/>
  <Override PartName="/ppt/media/image12.jpeg" ContentType="image/jpeg"/>
  <Override PartName="/ppt/media/image14.jpeg" ContentType="image/jpeg"/>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44266EAD-D0B6-4D8A-BE01-63A0BC9B14E1}"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E79441F9-D76A-4CC8-9358-058414BD0F38}"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3002BA3D-BBF9-4245-A13C-8D3389729F10}"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08C1367B-159A-40FF-A0FA-6CEA404F1AA0}"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80CFFB80-5D7C-4333-ADEF-7C3EAB8D2D49}"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311760" y="444960"/>
            <a:ext cx="852012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5F4E8C4A-16D2-4E29-AF8D-8FB0F210AFFA}"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3"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4"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5"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18687D5C-B9C3-408D-A7BF-FDD2621052E2}"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7"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8"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9" name="PlaceHolder 4"/>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E91936A6-6CFE-4E4C-9677-5A9E6963E3B8}"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1"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2"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3" name="PlaceHolder 4"/>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8606F742-6498-4A2D-B220-D71A84982AA2}"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5" name="PlaceHolder 2"/>
          <p:cNvSpPr>
            <a:spLocks noGrp="1"/>
          </p:cNvSpPr>
          <p:nvPr>
            <p:ph/>
          </p:nvPr>
        </p:nvSpPr>
        <p:spPr>
          <a:xfrm>
            <a:off x="311760" y="115236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6" name="PlaceHolder 3"/>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FA71FDAC-A0F9-44AB-B326-957621A2B1E8}"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28"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29"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0"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1" name="PlaceHolder 5"/>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E9C7B30D-64A2-4C42-9C30-22CECF2AC3A9}"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3" name="PlaceHolder 2"/>
          <p:cNvSpPr>
            <a:spLocks noGrp="1"/>
          </p:cNvSpPr>
          <p:nvPr>
            <p:ph/>
          </p:nvPr>
        </p:nvSpPr>
        <p:spPr>
          <a:xfrm>
            <a:off x="31176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4" name="PlaceHolder 3"/>
          <p:cNvSpPr>
            <a:spLocks noGrp="1"/>
          </p:cNvSpPr>
          <p:nvPr>
            <p:ph/>
          </p:nvPr>
        </p:nvSpPr>
        <p:spPr>
          <a:xfrm>
            <a:off x="319248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5" name="PlaceHolder 4"/>
          <p:cNvSpPr>
            <a:spLocks noGrp="1"/>
          </p:cNvSpPr>
          <p:nvPr>
            <p:ph/>
          </p:nvPr>
        </p:nvSpPr>
        <p:spPr>
          <a:xfrm>
            <a:off x="607320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6" name="PlaceHolder 5"/>
          <p:cNvSpPr>
            <a:spLocks noGrp="1"/>
          </p:cNvSpPr>
          <p:nvPr>
            <p:ph/>
          </p:nvPr>
        </p:nvSpPr>
        <p:spPr>
          <a:xfrm>
            <a:off x="31176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7" name="PlaceHolder 6"/>
          <p:cNvSpPr>
            <a:spLocks noGrp="1"/>
          </p:cNvSpPr>
          <p:nvPr>
            <p:ph/>
          </p:nvPr>
        </p:nvSpPr>
        <p:spPr>
          <a:xfrm>
            <a:off x="319248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38" name="PlaceHolder 7"/>
          <p:cNvSpPr>
            <a:spLocks noGrp="1"/>
          </p:cNvSpPr>
          <p:nvPr>
            <p:ph/>
          </p:nvPr>
        </p:nvSpPr>
        <p:spPr>
          <a:xfrm>
            <a:off x="607320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A3F64D0D-8798-426A-9A32-603C1F7B2BE3}"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CC6BD38-D354-4D67-8C52-B8A9427DE900}"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3"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2"/>
          </p:nvPr>
        </p:nvSpPr>
        <p:spPr/>
        <p:txBody>
          <a:bodyPr/>
          <a:p>
            <a:fld id="{4CC07B11-B997-4D23-B10D-E6CB020E6A59}"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5"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517B97C6-D4F9-4A7F-9B26-9729FBEE35D6}"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47"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8"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0547DD1D-687D-4E98-91A4-7AD341373B8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E86DD9B5-66F2-46FD-9175-96197E0224F3}"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0" name="PlaceHolder 1"/>
          <p:cNvSpPr>
            <a:spLocks noGrp="1"/>
          </p:cNvSpPr>
          <p:nvPr>
            <p:ph type="subTitle"/>
          </p:nvPr>
        </p:nvSpPr>
        <p:spPr>
          <a:xfrm>
            <a:off x="311760" y="444960"/>
            <a:ext cx="852012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2"/>
          </p:nvPr>
        </p:nvSpPr>
        <p:spPr/>
        <p:txBody>
          <a:bodyPr/>
          <a:p>
            <a:fld id="{08A349E5-C277-4ADC-8BA5-D03083F0CAE1}"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2"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3"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4"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3AB51B8C-1C19-4291-9FA2-36C1269960FB}"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56"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7"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8" name="PlaceHolder 4"/>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83262B78-25EF-40FE-A0BB-F607A0C5A951}"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0"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1"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2" name="PlaceHolder 4"/>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63096C6D-C5B1-4926-9D0C-41F4AB418121}"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4" name="PlaceHolder 2"/>
          <p:cNvSpPr>
            <a:spLocks noGrp="1"/>
          </p:cNvSpPr>
          <p:nvPr>
            <p:ph/>
          </p:nvPr>
        </p:nvSpPr>
        <p:spPr>
          <a:xfrm>
            <a:off x="311760" y="115236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5" name="PlaceHolder 3"/>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B93C8771-BC89-45D3-923F-74994714AC2C}"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67"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8"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9"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0" name="PlaceHolder 5"/>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7EC61210-90F7-41E8-93D1-0291A9FBEABF}"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72" name="PlaceHolder 2"/>
          <p:cNvSpPr>
            <a:spLocks noGrp="1"/>
          </p:cNvSpPr>
          <p:nvPr>
            <p:ph/>
          </p:nvPr>
        </p:nvSpPr>
        <p:spPr>
          <a:xfrm>
            <a:off x="31176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3" name="PlaceHolder 3"/>
          <p:cNvSpPr>
            <a:spLocks noGrp="1"/>
          </p:cNvSpPr>
          <p:nvPr>
            <p:ph/>
          </p:nvPr>
        </p:nvSpPr>
        <p:spPr>
          <a:xfrm>
            <a:off x="319248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4" name="PlaceHolder 4"/>
          <p:cNvSpPr>
            <a:spLocks noGrp="1"/>
          </p:cNvSpPr>
          <p:nvPr>
            <p:ph/>
          </p:nvPr>
        </p:nvSpPr>
        <p:spPr>
          <a:xfrm>
            <a:off x="607320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5" name="PlaceHolder 5"/>
          <p:cNvSpPr>
            <a:spLocks noGrp="1"/>
          </p:cNvSpPr>
          <p:nvPr>
            <p:ph/>
          </p:nvPr>
        </p:nvSpPr>
        <p:spPr>
          <a:xfrm>
            <a:off x="31176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6" name="PlaceHolder 6"/>
          <p:cNvSpPr>
            <a:spLocks noGrp="1"/>
          </p:cNvSpPr>
          <p:nvPr>
            <p:ph/>
          </p:nvPr>
        </p:nvSpPr>
        <p:spPr>
          <a:xfrm>
            <a:off x="319248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7" name="PlaceHolder 7"/>
          <p:cNvSpPr>
            <a:spLocks noGrp="1"/>
          </p:cNvSpPr>
          <p:nvPr>
            <p:ph/>
          </p:nvPr>
        </p:nvSpPr>
        <p:spPr>
          <a:xfrm>
            <a:off x="607320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233DEDAF-24B2-496B-9AF4-C1C738F44290}"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7816B12F-BEAA-412A-A58E-A6D328B1A6E9}"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1"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2" name="PlaceHolder 2"/>
          <p:cNvSpPr>
            <a:spLocks noGrp="1"/>
          </p:cNvSpPr>
          <p:nvPr>
            <p:ph type="subTitle"/>
          </p:nvPr>
        </p:nvSpPr>
        <p:spPr>
          <a:xfrm>
            <a:off x="311760" y="1152360"/>
            <a:ext cx="8520120" cy="34160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3"/>
          </p:nvPr>
        </p:nvSpPr>
        <p:spPr/>
        <p:txBody>
          <a:bodyPr/>
          <a:p>
            <a:fld id="{53B4FA39-A39C-4F44-8716-D7C5C1F2B571}"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4" name="PlaceHolder 2"/>
          <p:cNvSpPr>
            <a:spLocks noGrp="1"/>
          </p:cNvSpPr>
          <p:nvPr>
            <p:ph/>
          </p:nvPr>
        </p:nvSpPr>
        <p:spPr>
          <a:xfrm>
            <a:off x="311760" y="1152360"/>
            <a:ext cx="852012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F92A7D4B-C2E6-4EFB-8ABB-CB10868B6AE6}"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86"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87"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76E72C73-559D-4F10-A7EC-81F2AAB7B0E3}"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8"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496C6FA0-F1BC-45EE-A32E-D16EA90DCA1F}"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9" name="PlaceHolder 1"/>
          <p:cNvSpPr>
            <a:spLocks noGrp="1"/>
          </p:cNvSpPr>
          <p:nvPr>
            <p:ph type="subTitle"/>
          </p:nvPr>
        </p:nvSpPr>
        <p:spPr>
          <a:xfrm>
            <a:off x="311760" y="444960"/>
            <a:ext cx="8520120" cy="26546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3"/>
          </p:nvPr>
        </p:nvSpPr>
        <p:spPr/>
        <p:txBody>
          <a:bodyPr/>
          <a:p>
            <a:fld id="{BB500B9B-0043-4D45-BAEC-641992FEA50B}"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1"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2" name="PlaceHolder 3"/>
          <p:cNvSpPr>
            <a:spLocks noGrp="1"/>
          </p:cNvSpPr>
          <p:nvPr>
            <p:ph/>
          </p:nvPr>
        </p:nvSpPr>
        <p:spPr>
          <a:xfrm>
            <a:off x="467784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3"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8C06A031-FEF5-4498-BD3B-C9B99AA617BC}"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5" name="PlaceHolder 2"/>
          <p:cNvSpPr>
            <a:spLocks noGrp="1"/>
          </p:cNvSpPr>
          <p:nvPr>
            <p:ph/>
          </p:nvPr>
        </p:nvSpPr>
        <p:spPr>
          <a:xfrm>
            <a:off x="311760" y="1152360"/>
            <a:ext cx="4157640" cy="341604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6"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7" name="PlaceHolder 4"/>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D4C28C10-BAE3-4802-9BBB-B81EC87C25AA}"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99"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0"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1" name="PlaceHolder 4"/>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D9826FF8-CDD9-4B9E-B7B2-DA1004CB7BDF}"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3" name="PlaceHolder 2"/>
          <p:cNvSpPr>
            <a:spLocks noGrp="1"/>
          </p:cNvSpPr>
          <p:nvPr>
            <p:ph/>
          </p:nvPr>
        </p:nvSpPr>
        <p:spPr>
          <a:xfrm>
            <a:off x="311760" y="115236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4" name="PlaceHolder 3"/>
          <p:cNvSpPr>
            <a:spLocks noGrp="1"/>
          </p:cNvSpPr>
          <p:nvPr>
            <p:ph/>
          </p:nvPr>
        </p:nvSpPr>
        <p:spPr>
          <a:xfrm>
            <a:off x="311760" y="2936880"/>
            <a:ext cx="852012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9A23437F-0C37-4B95-9BB1-A2D71397C625}"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06" name="PlaceHolder 2"/>
          <p:cNvSpPr>
            <a:spLocks noGrp="1"/>
          </p:cNvSpPr>
          <p:nvPr>
            <p:ph/>
          </p:nvPr>
        </p:nvSpPr>
        <p:spPr>
          <a:xfrm>
            <a:off x="31176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7" name="PlaceHolder 3"/>
          <p:cNvSpPr>
            <a:spLocks noGrp="1"/>
          </p:cNvSpPr>
          <p:nvPr>
            <p:ph/>
          </p:nvPr>
        </p:nvSpPr>
        <p:spPr>
          <a:xfrm>
            <a:off x="4677840" y="115236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8" name="PlaceHolder 4"/>
          <p:cNvSpPr>
            <a:spLocks noGrp="1"/>
          </p:cNvSpPr>
          <p:nvPr>
            <p:ph/>
          </p:nvPr>
        </p:nvSpPr>
        <p:spPr>
          <a:xfrm>
            <a:off x="31176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09" name="PlaceHolder 5"/>
          <p:cNvSpPr>
            <a:spLocks noGrp="1"/>
          </p:cNvSpPr>
          <p:nvPr>
            <p:ph/>
          </p:nvPr>
        </p:nvSpPr>
        <p:spPr>
          <a:xfrm>
            <a:off x="4677840" y="2936880"/>
            <a:ext cx="415764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B6FF6DDC-3589-46A4-B0DF-72439980B189}"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311760" y="444960"/>
            <a:ext cx="8520120" cy="572400"/>
          </a:xfrm>
          <a:prstGeom prst="rect">
            <a:avLst/>
          </a:prstGeom>
          <a:noFill/>
          <a:ln w="0">
            <a:noFill/>
          </a:ln>
        </p:spPr>
        <p:txBody>
          <a:bodyPr lIns="0" rIns="0" tIns="0" bIns="0" anchor="ctr">
            <a:noAutofit/>
          </a:bodyPr>
          <a:p>
            <a:endParaRPr b="0" lang="en-US" sz="1400" spc="-1" strike="noStrike">
              <a:solidFill>
                <a:srgbClr val="000000"/>
              </a:solidFill>
              <a:latin typeface="Arial"/>
            </a:endParaRPr>
          </a:p>
        </p:txBody>
      </p:sp>
      <p:sp>
        <p:nvSpPr>
          <p:cNvPr id="111" name="PlaceHolder 2"/>
          <p:cNvSpPr>
            <a:spLocks noGrp="1"/>
          </p:cNvSpPr>
          <p:nvPr>
            <p:ph/>
          </p:nvPr>
        </p:nvSpPr>
        <p:spPr>
          <a:xfrm>
            <a:off x="31176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2" name="PlaceHolder 3"/>
          <p:cNvSpPr>
            <a:spLocks noGrp="1"/>
          </p:cNvSpPr>
          <p:nvPr>
            <p:ph/>
          </p:nvPr>
        </p:nvSpPr>
        <p:spPr>
          <a:xfrm>
            <a:off x="319248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3" name="PlaceHolder 4"/>
          <p:cNvSpPr>
            <a:spLocks noGrp="1"/>
          </p:cNvSpPr>
          <p:nvPr>
            <p:ph/>
          </p:nvPr>
        </p:nvSpPr>
        <p:spPr>
          <a:xfrm>
            <a:off x="6073200" y="115236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4" name="PlaceHolder 5"/>
          <p:cNvSpPr>
            <a:spLocks noGrp="1"/>
          </p:cNvSpPr>
          <p:nvPr>
            <p:ph/>
          </p:nvPr>
        </p:nvSpPr>
        <p:spPr>
          <a:xfrm>
            <a:off x="31176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5" name="PlaceHolder 6"/>
          <p:cNvSpPr>
            <a:spLocks noGrp="1"/>
          </p:cNvSpPr>
          <p:nvPr>
            <p:ph/>
          </p:nvPr>
        </p:nvSpPr>
        <p:spPr>
          <a:xfrm>
            <a:off x="319248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116" name="PlaceHolder 7"/>
          <p:cNvSpPr>
            <a:spLocks noGrp="1"/>
          </p:cNvSpPr>
          <p:nvPr>
            <p:ph/>
          </p:nvPr>
        </p:nvSpPr>
        <p:spPr>
          <a:xfrm>
            <a:off x="6073200" y="2936880"/>
            <a:ext cx="2743200" cy="1629360"/>
          </a:xfrm>
          <a:prstGeom prst="rect">
            <a:avLst/>
          </a:prstGeom>
          <a:noFill/>
          <a:ln w="0">
            <a:noFill/>
          </a:ln>
        </p:spPr>
        <p:txBody>
          <a:bodyPr lIns="0" rIns="0" tIns="0" bIns="0" anchor="t">
            <a:normAutofit/>
          </a:bodyPr>
          <a:p>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E8EA0500-DB88-4FA6-A7E3-8943C02C2802}"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11760" y="744480"/>
            <a:ext cx="8520120" cy="2052360"/>
          </a:xfrm>
          <a:prstGeom prst="rect">
            <a:avLst/>
          </a:prstGeom>
          <a:noFill/>
          <a:ln w="0">
            <a:noFill/>
          </a:ln>
        </p:spPr>
        <p:txBody>
          <a:bodyPr tIns="91440" bIns="91440" anchor="b">
            <a:normAutofit/>
          </a:bodyPr>
          <a:p>
            <a:r>
              <a:rPr b="0" lang="en-US" sz="5200" spc="-1" strike="noStrike">
                <a:solidFill>
                  <a:srgbClr val="000000"/>
                </a:solidFill>
                <a:latin typeface="Arial"/>
              </a:rPr>
              <a:t>Click to edit the title text format</a:t>
            </a:r>
            <a:endParaRPr b="0" lang="en-US" sz="5200" spc="-1" strike="noStrike">
              <a:solidFill>
                <a:srgbClr val="000000"/>
              </a:solidFill>
              <a:latin typeface="Arial"/>
            </a:endParaRPr>
          </a:p>
        </p:txBody>
      </p:sp>
      <p:sp>
        <p:nvSpPr>
          <p:cNvPr id="1" name="PlaceHolder 2"/>
          <p:cNvSpPr>
            <a:spLocks noGrp="1"/>
          </p:cNvSpPr>
          <p:nvPr>
            <p:ph type="sldNum" idx="1"/>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GB" sz="1000" spc="-1" strike="noStrike">
                <a:solidFill>
                  <a:srgbClr val="595959"/>
                </a:solidFill>
                <a:latin typeface="Arial"/>
                <a:ea typeface="Arial"/>
              </a:defRPr>
            </a:lvl1pPr>
          </a:lstStyle>
          <a:p>
            <a:pPr algn="r">
              <a:lnSpc>
                <a:spcPct val="100000"/>
              </a:lnSpc>
              <a:buNone/>
              <a:tabLst>
                <a:tab algn="l" pos="0"/>
              </a:tabLst>
            </a:pPr>
            <a:fld id="{34317BBF-7F19-455C-B7C8-92823A64B1C7}" type="slidenum">
              <a:rPr b="0" lang="en-GB" sz="1000" spc="-1" strike="noStrike">
                <a:solidFill>
                  <a:srgbClr val="595959"/>
                </a:solidFill>
                <a:latin typeface="Arial"/>
                <a:ea typeface="Arial"/>
              </a:rPr>
              <a:t>&lt;number&gt;</a:t>
            </a:fld>
            <a:endParaRPr b="0" lang="en-US" sz="1000" spc="-1" strike="noStrike">
              <a:latin typeface="Times New Roman"/>
            </a:endParaRPr>
          </a:p>
        </p:txBody>
      </p:sp>
      <p:sp>
        <p:nvSpPr>
          <p:cNvPr id="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311760" y="2151000"/>
            <a:ext cx="8520120" cy="841320"/>
          </a:xfrm>
          <a:prstGeom prst="rect">
            <a:avLst/>
          </a:prstGeom>
          <a:noFill/>
          <a:ln w="0">
            <a:noFill/>
          </a:ln>
        </p:spPr>
        <p:txBody>
          <a:bodyPr tIns="91440" bIns="91440" anchor="ctr">
            <a:normAutofit/>
          </a:bodyPr>
          <a:p>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0" name="PlaceHolder 2"/>
          <p:cNvSpPr>
            <a:spLocks noGrp="1"/>
          </p:cNvSpPr>
          <p:nvPr>
            <p:ph type="sldNum" idx="2"/>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GB" sz="1000" spc="-1" strike="noStrike">
                <a:solidFill>
                  <a:srgbClr val="595959"/>
                </a:solidFill>
                <a:latin typeface="Arial"/>
                <a:ea typeface="Arial"/>
              </a:defRPr>
            </a:lvl1pPr>
          </a:lstStyle>
          <a:p>
            <a:pPr algn="r">
              <a:lnSpc>
                <a:spcPct val="100000"/>
              </a:lnSpc>
              <a:buNone/>
              <a:tabLst>
                <a:tab algn="l" pos="0"/>
              </a:tabLst>
            </a:pPr>
            <a:fld id="{D112EE55-D4AB-48E2-8D80-4A5A6BB81677}" type="slidenum">
              <a:rPr b="0" lang="en-GB" sz="1000" spc="-1" strike="noStrike">
                <a:solidFill>
                  <a:srgbClr val="595959"/>
                </a:solidFill>
                <a:latin typeface="Arial"/>
                <a:ea typeface="Arial"/>
              </a:rPr>
              <a:t>&lt;number&gt;</a:t>
            </a:fld>
            <a:endParaRPr b="0" lang="en-US" sz="1000" spc="-1" strike="noStrike">
              <a:latin typeface="Times New Roman"/>
            </a:endParaRPr>
          </a:p>
        </p:txBody>
      </p:sp>
      <p:sp>
        <p:nvSpPr>
          <p:cNvPr id="41"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8" name="PlaceHolder 1"/>
          <p:cNvSpPr>
            <a:spLocks noGrp="1"/>
          </p:cNvSpPr>
          <p:nvPr>
            <p:ph type="title"/>
          </p:nvPr>
        </p:nvSpPr>
        <p:spPr>
          <a:xfrm>
            <a:off x="311760" y="444960"/>
            <a:ext cx="8520120" cy="572400"/>
          </a:xfrm>
          <a:prstGeom prst="rect">
            <a:avLst/>
          </a:prstGeom>
          <a:noFill/>
          <a:ln w="0">
            <a:noFill/>
          </a:ln>
        </p:spPr>
        <p:txBody>
          <a:bodyPr tIns="91440" bIns="91440" anchor="t">
            <a:normAutofit fontScale="91000"/>
          </a:bodyPr>
          <a:p>
            <a:r>
              <a:rPr b="0" lang="en-US" sz="2800" spc="-1" strike="noStrike">
                <a:solidFill>
                  <a:srgbClr val="000000"/>
                </a:solidFill>
                <a:latin typeface="Arial"/>
              </a:rPr>
              <a:t>Click to edit the title text format</a:t>
            </a:r>
            <a:endParaRPr b="0" lang="en-US" sz="2800" spc="-1" strike="noStrike">
              <a:solidFill>
                <a:srgbClr val="000000"/>
              </a:solidFill>
              <a:latin typeface="Arial"/>
            </a:endParaRPr>
          </a:p>
        </p:txBody>
      </p:sp>
      <p:sp>
        <p:nvSpPr>
          <p:cNvPr id="79" name="PlaceHolder 2"/>
          <p:cNvSpPr>
            <a:spLocks noGrp="1"/>
          </p:cNvSpPr>
          <p:nvPr>
            <p:ph type="body"/>
          </p:nvPr>
        </p:nvSpPr>
        <p:spPr>
          <a:xfrm>
            <a:off x="311760" y="1152360"/>
            <a:ext cx="8520120" cy="341604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80" name="PlaceHolder 3"/>
          <p:cNvSpPr>
            <a:spLocks noGrp="1"/>
          </p:cNvSpPr>
          <p:nvPr>
            <p:ph type="sldNum" idx="3"/>
          </p:nvPr>
        </p:nvSpPr>
        <p:spPr>
          <a:xfrm>
            <a:off x="8472600" y="4663080"/>
            <a:ext cx="548280" cy="393120"/>
          </a:xfrm>
          <a:prstGeom prst="rect">
            <a:avLst/>
          </a:prstGeom>
          <a:noFill/>
          <a:ln w="0">
            <a:noFill/>
          </a:ln>
        </p:spPr>
        <p:txBody>
          <a:bodyPr tIns="91440" bIns="91440" anchor="ctr">
            <a:normAutofit/>
          </a:bodyPr>
          <a:lstStyle>
            <a:lvl1pPr algn="r">
              <a:lnSpc>
                <a:spcPct val="100000"/>
              </a:lnSpc>
              <a:buNone/>
              <a:tabLst>
                <a:tab algn="l" pos="0"/>
              </a:tabLst>
              <a:defRPr b="0" lang="en-GB" sz="1000" spc="-1" strike="noStrike">
                <a:solidFill>
                  <a:srgbClr val="595959"/>
                </a:solidFill>
                <a:latin typeface="Arial"/>
                <a:ea typeface="Arial"/>
              </a:defRPr>
            </a:lvl1pPr>
          </a:lstStyle>
          <a:p>
            <a:pPr algn="r">
              <a:lnSpc>
                <a:spcPct val="100000"/>
              </a:lnSpc>
              <a:buNone/>
              <a:tabLst>
                <a:tab algn="l" pos="0"/>
              </a:tabLst>
            </a:pPr>
            <a:fld id="{D0DE95A8-7EE5-44F3-8C29-6161281AA571}" type="slidenum">
              <a:rPr b="0" lang="en-GB" sz="1000" spc="-1" strike="noStrike">
                <a:solidFill>
                  <a:srgbClr val="595959"/>
                </a:solidFill>
                <a:latin typeface="Arial"/>
                <a:ea typeface="Arial"/>
              </a:rPr>
              <a:t>&lt;number&gt;</a:t>
            </a:fld>
            <a:endParaRPr b="0" lang="en-US" sz="10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image" Target="../media/image3.png"/><Relationship Id="rId3"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jpeg"/><Relationship Id="rId3"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7.xml"/>
</Relationships>
</file>

<file path=ppt/slides/_rels/slide13.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image" Target="../media/image13.png"/><Relationship Id="rId3" Type="http://schemas.openxmlformats.org/officeDocument/2006/relationships/slideLayout" Target="../slideLayouts/slideLayout27.xml"/>
</Relationships>
</file>

<file path=ppt/slides/_rels/slide14.xml.rels><?xml version="1.0" encoding="UTF-8"?>
<Relationships xmlns="http://schemas.openxmlformats.org/package/2006/relationships"><Relationship Id="rId1" Type="http://schemas.openxmlformats.org/officeDocument/2006/relationships/image" Target="../media/image14.jpeg"/><Relationship Id="rId2" Type="http://schemas.openxmlformats.org/officeDocument/2006/relationships/slideLayout" Target="../slideLayouts/slideLayout2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7" name="Picture 2" descr=""/>
          <p:cNvPicPr/>
          <p:nvPr/>
        </p:nvPicPr>
        <p:blipFill>
          <a:blip r:embed="rId1"/>
          <a:stretch/>
        </p:blipFill>
        <p:spPr>
          <a:xfrm>
            <a:off x="10800" y="0"/>
            <a:ext cx="9180000" cy="5143320"/>
          </a:xfrm>
          <a:prstGeom prst="rect">
            <a:avLst/>
          </a:prstGeom>
          <a:ln w="0">
            <a:noFill/>
          </a:ln>
        </p:spPr>
      </p:pic>
      <p:sp>
        <p:nvSpPr>
          <p:cNvPr id="118" name="PlaceHolder 1"/>
          <p:cNvSpPr>
            <a:spLocks noGrp="1"/>
          </p:cNvSpPr>
          <p:nvPr>
            <p:ph type="title"/>
          </p:nvPr>
        </p:nvSpPr>
        <p:spPr>
          <a:xfrm>
            <a:off x="311760" y="364320"/>
            <a:ext cx="8578440" cy="2351520"/>
          </a:xfrm>
          <a:prstGeom prst="rect">
            <a:avLst/>
          </a:prstGeom>
          <a:noFill/>
          <a:ln w="0">
            <a:noFill/>
          </a:ln>
        </p:spPr>
        <p:txBody>
          <a:bodyPr tIns="91440" bIns="91440" anchor="b">
            <a:normAutofit/>
          </a:bodyPr>
          <a:p>
            <a:pPr algn="ctr">
              <a:lnSpc>
                <a:spcPct val="100000"/>
              </a:lnSpc>
              <a:buNone/>
              <a:tabLst>
                <a:tab algn="l" pos="0"/>
              </a:tabLst>
            </a:pPr>
            <a:r>
              <a:rPr b="1" lang="en-GB" sz="6000" spc="-1" strike="noStrike">
                <a:solidFill>
                  <a:srgbClr val="ffffff"/>
                </a:solidFill>
                <a:latin typeface="Bahnschrift Light"/>
                <a:ea typeface="Arial"/>
              </a:rPr>
              <a:t>Travelling Salesman Problem </a:t>
            </a:r>
            <a:endParaRPr b="0" lang="en-US" sz="6000" spc="-1" strike="noStrike">
              <a:solidFill>
                <a:srgbClr val="000000"/>
              </a:solidFill>
              <a:latin typeface="Arial"/>
            </a:endParaRPr>
          </a:p>
        </p:txBody>
      </p:sp>
      <p:sp>
        <p:nvSpPr>
          <p:cNvPr id="119" name="Google Shape;55;p13"/>
          <p:cNvSpPr/>
          <p:nvPr/>
        </p:nvSpPr>
        <p:spPr>
          <a:xfrm>
            <a:off x="7763400" y="3244680"/>
            <a:ext cx="1416960" cy="461520"/>
          </a:xfrm>
          <a:prstGeom prst="rect">
            <a:avLst/>
          </a:prstGeom>
          <a:noFill/>
          <a:ln w="0">
            <a:noFill/>
          </a:ln>
        </p:spPr>
        <p:style>
          <a:lnRef idx="0"/>
          <a:fillRef idx="0"/>
          <a:effectRef idx="0"/>
          <a:fontRef idx="minor"/>
        </p:style>
      </p:sp>
      <p:sp>
        <p:nvSpPr>
          <p:cNvPr id="120" name="PlaceHolder 2"/>
          <p:cNvSpPr>
            <a:spLocks noGrp="1"/>
          </p:cNvSpPr>
          <p:nvPr>
            <p:ph type="subTitle"/>
          </p:nvPr>
        </p:nvSpPr>
        <p:spPr>
          <a:xfrm>
            <a:off x="156240" y="3080520"/>
            <a:ext cx="8866080" cy="904680"/>
          </a:xfrm>
          <a:prstGeom prst="rect">
            <a:avLst/>
          </a:prstGeom>
          <a:noFill/>
          <a:ln w="0">
            <a:noFill/>
          </a:ln>
        </p:spPr>
        <p:txBody>
          <a:bodyPr tIns="91440" bIns="91440" anchor="t">
            <a:normAutofit/>
          </a:bodyPr>
          <a:p>
            <a:pPr algn="ctr">
              <a:lnSpc>
                <a:spcPct val="100000"/>
              </a:lnSpc>
              <a:buNone/>
              <a:tabLst>
                <a:tab algn="l" pos="0"/>
              </a:tabLst>
            </a:pPr>
            <a:r>
              <a:rPr b="1" lang="en-GB" sz="2900" spc="-1" strike="noStrike">
                <a:solidFill>
                  <a:srgbClr val="eeeeee"/>
                </a:solidFill>
                <a:latin typeface="Arial"/>
                <a:ea typeface="Arial"/>
              </a:rPr>
              <a:t>"</a:t>
            </a:r>
            <a:r>
              <a:rPr b="1" lang="en-GB" sz="2900" spc="-1" strike="noStrike">
                <a:solidFill>
                  <a:srgbClr val="eeeeee"/>
                </a:solidFill>
                <a:latin typeface="Arial"/>
                <a:ea typeface="Arial"/>
              </a:rPr>
              <a:t>Optimizing Routes, Minimizing Costs"</a:t>
            </a:r>
            <a:endParaRPr b="0" lang="en-US" sz="2900" spc="-1" strike="noStrike">
              <a:latin typeface="Arial"/>
            </a:endParaRPr>
          </a:p>
        </p:txBody>
      </p:sp>
      <p:sp>
        <p:nvSpPr>
          <p:cNvPr id="121" name="Straight Arrow Connector 3"/>
          <p:cNvSpPr/>
          <p:nvPr/>
        </p:nvSpPr>
        <p:spPr>
          <a:xfrm>
            <a:off x="794880" y="3985200"/>
            <a:ext cx="7589160" cy="360"/>
          </a:xfrm>
          <a:custGeom>
            <a:avLst/>
            <a:gdLst/>
            <a:ahLst/>
            <a:rect l="l" t="t" r="r" b="b"/>
            <a:pathLst>
              <a:path w="21600" h="21600">
                <a:moveTo>
                  <a:pt x="0" y="0"/>
                </a:moveTo>
                <a:lnTo>
                  <a:pt x="21600" y="21600"/>
                </a:lnTo>
              </a:path>
            </a:pathLst>
          </a:custGeom>
          <a:noFill/>
          <a:ln>
            <a:solidFill>
              <a:srgbClr val="eeeeee"/>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22" name="Straight Arrow Connector 5"/>
          <p:cNvSpPr/>
          <p:nvPr/>
        </p:nvSpPr>
        <p:spPr>
          <a:xfrm>
            <a:off x="794880" y="2902680"/>
            <a:ext cx="7589160" cy="360"/>
          </a:xfrm>
          <a:custGeom>
            <a:avLst/>
            <a:gdLst/>
            <a:ahLst/>
            <a:rect l="l" t="t" r="r" b="b"/>
            <a:pathLst>
              <a:path w="21600" h="21600">
                <a:moveTo>
                  <a:pt x="0" y="0"/>
                </a:moveTo>
                <a:lnTo>
                  <a:pt x="21600" y="21600"/>
                </a:lnTo>
              </a:path>
            </a:pathLst>
          </a:custGeom>
          <a:noFill/>
          <a:ln>
            <a:solidFill>
              <a:srgbClr val="ffffff"/>
            </a:solidFill>
            <a:round/>
            <a:headEnd len="med" type="triangle" w="me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8" descr=""/>
          <p:cNvPicPr/>
          <p:nvPr/>
        </p:nvPicPr>
        <p:blipFill>
          <a:blip r:embed="rId1"/>
          <a:stretch/>
        </p:blipFill>
        <p:spPr>
          <a:xfrm>
            <a:off x="0" y="18720"/>
            <a:ext cx="9143640" cy="5143320"/>
          </a:xfrm>
          <a:prstGeom prst="rect">
            <a:avLst/>
          </a:prstGeom>
          <a:ln w="0">
            <a:noFill/>
          </a:ln>
        </p:spPr>
      </p:pic>
      <p:sp>
        <p:nvSpPr>
          <p:cNvPr id="124" name="TextBox 3"/>
          <p:cNvSpPr/>
          <p:nvPr/>
        </p:nvSpPr>
        <p:spPr>
          <a:xfrm>
            <a:off x="1826640" y="869040"/>
            <a:ext cx="2809080" cy="5770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3200" spc="-1" strike="noStrike">
                <a:solidFill>
                  <a:srgbClr val="f8ffb3"/>
                </a:solidFill>
                <a:latin typeface="Arial"/>
                <a:ea typeface="Arial"/>
              </a:rPr>
              <a:t>Group -  7</a:t>
            </a:r>
            <a:endParaRPr b="0" lang="en-US" sz="3200" spc="-1" strike="noStrike">
              <a:latin typeface="Arial"/>
            </a:endParaRPr>
          </a:p>
        </p:txBody>
      </p:sp>
      <p:sp>
        <p:nvSpPr>
          <p:cNvPr id="125" name="TextBox 4"/>
          <p:cNvSpPr/>
          <p:nvPr/>
        </p:nvSpPr>
        <p:spPr>
          <a:xfrm>
            <a:off x="4857120" y="2203920"/>
            <a:ext cx="4635000" cy="546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endParaRPr b="0" lang="en-US" sz="1400" spc="-1" strike="noStrike">
              <a:latin typeface="Arial"/>
            </a:endParaRPr>
          </a:p>
          <a:p>
            <a:pPr>
              <a:lnSpc>
                <a:spcPct val="100000"/>
              </a:lnSpc>
              <a:buNone/>
            </a:pPr>
            <a:endParaRPr b="0" lang="en-US" sz="1600" spc="-1" strike="noStrike">
              <a:latin typeface="Arial"/>
            </a:endParaRPr>
          </a:p>
        </p:txBody>
      </p:sp>
      <p:sp>
        <p:nvSpPr>
          <p:cNvPr id="126" name="TextBox 6"/>
          <p:cNvSpPr/>
          <p:nvPr/>
        </p:nvSpPr>
        <p:spPr>
          <a:xfrm>
            <a:off x="2878920" y="1665720"/>
            <a:ext cx="322272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2400" spc="-1" strike="noStrike">
                <a:solidFill>
                  <a:srgbClr val="f8ffb3"/>
                </a:solidFill>
                <a:latin typeface="Arial"/>
                <a:ea typeface="Arial"/>
              </a:rPr>
              <a:t>Group Members</a:t>
            </a:r>
            <a:endParaRPr b="0" lang="en-US" sz="2400" spc="-1" strike="noStrike">
              <a:latin typeface="Arial"/>
            </a:endParaRPr>
          </a:p>
        </p:txBody>
      </p:sp>
      <p:sp>
        <p:nvSpPr>
          <p:cNvPr id="127" name="Straight Arrow Connector 2"/>
          <p:cNvSpPr/>
          <p:nvPr/>
        </p:nvSpPr>
        <p:spPr>
          <a:xfrm>
            <a:off x="2156400" y="2127600"/>
            <a:ext cx="6712920" cy="360"/>
          </a:xfrm>
          <a:custGeom>
            <a:avLst/>
            <a:gdLst/>
            <a:ahLst/>
            <a:rect l="l" t="t" r="r" b="b"/>
            <a:pathLst>
              <a:path w="21600" h="21600">
                <a:moveTo>
                  <a:pt x="0" y="0"/>
                </a:moveTo>
                <a:lnTo>
                  <a:pt x="21600" y="21600"/>
                </a:lnTo>
              </a:path>
            </a:pathLst>
          </a:custGeom>
          <a:noFill/>
          <a:ln>
            <a:solidFill>
              <a:srgbClr val="ffffff"/>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28" name="Straight Arrow Connector 9"/>
          <p:cNvSpPr/>
          <p:nvPr/>
        </p:nvSpPr>
        <p:spPr>
          <a:xfrm>
            <a:off x="4343400" y="2571840"/>
            <a:ext cx="513360" cy="360"/>
          </a:xfrm>
          <a:custGeom>
            <a:avLst/>
            <a:gdLst/>
            <a:ahLst/>
            <a:rect l="l" t="t" r="r" b="b"/>
            <a:pathLst>
              <a:path w="21600" h="21600">
                <a:moveTo>
                  <a:pt x="0" y="0"/>
                </a:moveTo>
                <a:lnTo>
                  <a:pt x="21600" y="21600"/>
                </a:lnTo>
              </a:path>
            </a:pathLst>
          </a:custGeom>
          <a:noFill/>
          <a:ln>
            <a:solidFill>
              <a:srgbClr val="ffffff"/>
            </a:solidFill>
            <a:round/>
            <a:tailEnd len="med" type="triangle" w="med"/>
          </a:ln>
        </p:spPr>
        <p:style>
          <a:lnRef idx="1">
            <a:schemeClr val="accent1"/>
          </a:lnRef>
          <a:fillRef idx="0">
            <a:schemeClr val="accent1"/>
          </a:fillRef>
          <a:effectRef idx="0">
            <a:schemeClr val="accent1"/>
          </a:effectRef>
          <a:fontRef idx="minor"/>
        </p:style>
      </p:sp>
      <p:sp>
        <p:nvSpPr>
          <p:cNvPr id="129" name="Straight Arrow Connector 11"/>
          <p:cNvSpPr/>
          <p:nvPr/>
        </p:nvSpPr>
        <p:spPr>
          <a:xfrm>
            <a:off x="4343400" y="3093840"/>
            <a:ext cx="513360" cy="360"/>
          </a:xfrm>
          <a:custGeom>
            <a:avLst/>
            <a:gdLst/>
            <a:ahLst/>
            <a:rect l="l" t="t" r="r" b="b"/>
            <a:pathLst>
              <a:path w="21600" h="21600">
                <a:moveTo>
                  <a:pt x="0" y="0"/>
                </a:moveTo>
                <a:lnTo>
                  <a:pt x="21600" y="21600"/>
                </a:lnTo>
              </a:path>
            </a:pathLst>
          </a:custGeom>
          <a:noFill/>
          <a:ln>
            <a:solidFill>
              <a:srgbClr val="ffffff"/>
            </a:solidFill>
            <a:round/>
            <a:tailEnd len="med" type="triangle" w="med"/>
          </a:ln>
        </p:spPr>
        <p:style>
          <a:lnRef idx="1">
            <a:schemeClr val="accent1"/>
          </a:lnRef>
          <a:fillRef idx="0">
            <a:schemeClr val="accent1"/>
          </a:fillRef>
          <a:effectRef idx="0">
            <a:schemeClr val="accent1"/>
          </a:effectRef>
          <a:fontRef idx="minor"/>
        </p:style>
      </p:sp>
      <p:sp>
        <p:nvSpPr>
          <p:cNvPr id="130" name="Straight Arrow Connector 13"/>
          <p:cNvSpPr/>
          <p:nvPr/>
        </p:nvSpPr>
        <p:spPr>
          <a:xfrm>
            <a:off x="4343400" y="3444120"/>
            <a:ext cx="513360" cy="360"/>
          </a:xfrm>
          <a:custGeom>
            <a:avLst/>
            <a:gdLst/>
            <a:ahLst/>
            <a:rect l="l" t="t" r="r" b="b"/>
            <a:pathLst>
              <a:path w="21600" h="21600">
                <a:moveTo>
                  <a:pt x="0" y="0"/>
                </a:moveTo>
                <a:lnTo>
                  <a:pt x="21600" y="21600"/>
                </a:lnTo>
              </a:path>
            </a:pathLst>
          </a:custGeom>
          <a:noFill/>
          <a:ln>
            <a:solidFill>
              <a:srgbClr val="ffffff"/>
            </a:solidFill>
            <a:round/>
            <a:tailEnd len="med" type="triangle" w="med"/>
          </a:ln>
        </p:spPr>
        <p:style>
          <a:lnRef idx="1">
            <a:schemeClr val="accent1"/>
          </a:lnRef>
          <a:fillRef idx="0">
            <a:schemeClr val="accent1"/>
          </a:fillRef>
          <a:effectRef idx="0">
            <a:schemeClr val="accent1"/>
          </a:effectRef>
          <a:fontRef idx="minor"/>
        </p:style>
      </p:sp>
      <p:sp>
        <p:nvSpPr>
          <p:cNvPr id="131" name="Straight Arrow Connector 15"/>
          <p:cNvSpPr/>
          <p:nvPr/>
        </p:nvSpPr>
        <p:spPr>
          <a:xfrm>
            <a:off x="4369680" y="3924360"/>
            <a:ext cx="487440" cy="360"/>
          </a:xfrm>
          <a:custGeom>
            <a:avLst/>
            <a:gdLst/>
            <a:ahLst/>
            <a:rect l="l" t="t" r="r" b="b"/>
            <a:pathLst>
              <a:path w="21600" h="21600">
                <a:moveTo>
                  <a:pt x="0" y="0"/>
                </a:moveTo>
                <a:lnTo>
                  <a:pt x="21600" y="21600"/>
                </a:lnTo>
              </a:path>
            </a:pathLst>
          </a:custGeom>
          <a:noFill/>
          <a:ln>
            <a:solidFill>
              <a:srgbClr val="ffffff"/>
            </a:solidFill>
            <a:round/>
            <a:tailEnd len="med" type="triangle" w="med"/>
          </a:ln>
        </p:spPr>
        <p:style>
          <a:lnRef idx="1">
            <a:schemeClr val="accent1"/>
          </a:lnRef>
          <a:fillRef idx="0">
            <a:schemeClr val="accent1"/>
          </a:fillRef>
          <a:effectRef idx="0">
            <a:schemeClr val="accent1"/>
          </a:effectRef>
          <a:fontRef idx="minor"/>
        </p:style>
      </p:sp>
      <p:pic>
        <p:nvPicPr>
          <p:cNvPr id="132" name="Graphic 17" descr="Employee badge"/>
          <p:cNvPicPr/>
          <p:nvPr/>
        </p:nvPicPr>
        <p:blipFill>
          <a:blip r:embed="rId2"/>
          <a:stretch/>
        </p:blipFill>
        <p:spPr>
          <a:xfrm>
            <a:off x="2651760" y="2841120"/>
            <a:ext cx="723600" cy="78444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3" name="Picture 2" descr=""/>
          <p:cNvPicPr/>
          <p:nvPr/>
        </p:nvPicPr>
        <p:blipFill>
          <a:blip r:embed="rId1"/>
          <a:stretch/>
        </p:blipFill>
        <p:spPr>
          <a:xfrm>
            <a:off x="0" y="0"/>
            <a:ext cx="9143640" cy="5143320"/>
          </a:xfrm>
          <a:prstGeom prst="rect">
            <a:avLst/>
          </a:prstGeom>
          <a:ln w="0">
            <a:noFill/>
          </a:ln>
        </p:spPr>
      </p:pic>
      <p:sp>
        <p:nvSpPr>
          <p:cNvPr id="134" name="PlaceHolder 1"/>
          <p:cNvSpPr>
            <a:spLocks noGrp="1"/>
          </p:cNvSpPr>
          <p:nvPr>
            <p:ph type="title"/>
          </p:nvPr>
        </p:nvSpPr>
        <p:spPr>
          <a:xfrm>
            <a:off x="360" y="-1457280"/>
            <a:ext cx="8624520" cy="2914200"/>
          </a:xfrm>
          <a:prstGeom prst="rect">
            <a:avLst/>
          </a:prstGeom>
          <a:noFill/>
          <a:ln w="0">
            <a:noFill/>
          </a:ln>
        </p:spPr>
        <p:txBody>
          <a:bodyPr tIns="91440" bIns="91440" anchor="b">
            <a:normAutofit/>
          </a:bodyPr>
          <a:p>
            <a:pPr marL="108000">
              <a:lnSpc>
                <a:spcPct val="100000"/>
              </a:lnSpc>
              <a:buNone/>
              <a:tabLst>
                <a:tab algn="l" pos="0"/>
              </a:tabLst>
            </a:pPr>
            <a:r>
              <a:rPr b="1" lang="en-GB" sz="3600" spc="-1" strike="noStrike" u="sng">
                <a:solidFill>
                  <a:srgbClr val="ffffff"/>
                </a:solidFill>
                <a:uFillTx/>
                <a:latin typeface="Arial"/>
                <a:ea typeface="Arial"/>
              </a:rPr>
              <a:t>Introduction:</a:t>
            </a:r>
            <a:br>
              <a:rPr sz="1400"/>
            </a:br>
            <a:br>
              <a:rPr sz="1400"/>
            </a:br>
            <a:r>
              <a:rPr b="1" lang="en-GB" sz="2800" spc="-1" strike="noStrike">
                <a:solidFill>
                  <a:srgbClr val="ffffff"/>
                </a:solidFill>
                <a:latin typeface="Arial"/>
                <a:ea typeface="Arial"/>
              </a:rPr>
              <a:t>What is travelling salesman problem?</a:t>
            </a:r>
            <a:endParaRPr b="0" lang="en-US" sz="2800" spc="-1" strike="noStrike">
              <a:solidFill>
                <a:srgbClr val="000000"/>
              </a:solidFill>
              <a:latin typeface="Arial"/>
            </a:endParaRPr>
          </a:p>
        </p:txBody>
      </p:sp>
      <p:sp>
        <p:nvSpPr>
          <p:cNvPr id="135" name="PlaceHolder 2"/>
          <p:cNvSpPr>
            <a:spLocks noGrp="1"/>
          </p:cNvSpPr>
          <p:nvPr>
            <p:ph type="subTitle"/>
          </p:nvPr>
        </p:nvSpPr>
        <p:spPr>
          <a:xfrm>
            <a:off x="138960" y="1457280"/>
            <a:ext cx="8824680" cy="3521880"/>
          </a:xfrm>
          <a:prstGeom prst="rect">
            <a:avLst/>
          </a:prstGeom>
          <a:noFill/>
          <a:ln w="0">
            <a:noFill/>
          </a:ln>
        </p:spPr>
        <p:txBody>
          <a:bodyPr tIns="91440" bIns="91440" anchor="t">
            <a:noAutofit/>
          </a:bodyPr>
          <a:p>
            <a:pPr>
              <a:lnSpc>
                <a:spcPct val="115000"/>
              </a:lnSpc>
              <a:buNone/>
              <a:tabLst>
                <a:tab algn="l" pos="0"/>
              </a:tabLst>
            </a:pPr>
            <a:r>
              <a:rPr b="1" lang="en-US" sz="1600" spc="-1" strike="noStrike">
                <a:solidFill>
                  <a:srgbClr val="fcffd9"/>
                </a:solidFill>
                <a:latin typeface="Arial"/>
                <a:ea typeface="Arial"/>
              </a:rPr>
              <a:t>→ </a:t>
            </a:r>
            <a:r>
              <a:rPr b="1" lang="en-US" sz="1600" spc="-1" strike="noStrike">
                <a:solidFill>
                  <a:srgbClr val="fcffd9"/>
                </a:solidFill>
                <a:latin typeface="Arial"/>
                <a:ea typeface="Arial"/>
              </a:rPr>
              <a:t>The Traveling Salesman Problem (TSP) is a classic problem in optimization and operations research. It involves finding the shortest possible route for a salesman to visit a set of cities exactly once and return to the starting point. The challenge is to determine the most efficient way to travel among these cities to minimize the total travel distance or cost.</a:t>
            </a:r>
            <a:endParaRPr b="0" lang="en-US" sz="1600" spc="-1" strike="noStrike">
              <a:latin typeface="Arial"/>
            </a:endParaRPr>
          </a:p>
          <a:p>
            <a:pPr>
              <a:lnSpc>
                <a:spcPct val="115000"/>
              </a:lnSpc>
              <a:buNone/>
              <a:tabLst>
                <a:tab algn="l" pos="0"/>
              </a:tabLst>
            </a:pPr>
            <a:endParaRPr b="0" lang="en-US" sz="1600" spc="-1" strike="noStrike">
              <a:latin typeface="Arial"/>
            </a:endParaRPr>
          </a:p>
          <a:p>
            <a:pPr>
              <a:lnSpc>
                <a:spcPct val="115000"/>
              </a:lnSpc>
              <a:buNone/>
              <a:tabLst>
                <a:tab algn="l" pos="0"/>
              </a:tabLst>
            </a:pPr>
            <a:r>
              <a:rPr b="1" lang="en-US" sz="1600" spc="-1" strike="noStrike">
                <a:solidFill>
                  <a:srgbClr val="fcffd9"/>
                </a:solidFill>
                <a:latin typeface="Arial"/>
                <a:ea typeface="Arial"/>
              </a:rPr>
              <a:t>→ </a:t>
            </a:r>
            <a:r>
              <a:rPr b="1" lang="en-US" sz="1600" spc="-1" strike="noStrike">
                <a:solidFill>
                  <a:srgbClr val="fcffd9"/>
                </a:solidFill>
                <a:latin typeface="Arial"/>
                <a:ea typeface="Arial"/>
              </a:rPr>
              <a:t>The goal of the Traveling Salesman Problem (TSP) is to find the "cheapest" tour of a select number of "cities" with the following restrictions :</a:t>
            </a:r>
            <a:endParaRPr b="0" lang="en-US" sz="1600" spc="-1" strike="noStrike">
              <a:latin typeface="Arial"/>
            </a:endParaRPr>
          </a:p>
          <a:p>
            <a:pPr>
              <a:lnSpc>
                <a:spcPct val="115000"/>
              </a:lnSpc>
              <a:buNone/>
              <a:tabLst>
                <a:tab algn="l" pos="0"/>
              </a:tabLst>
            </a:pPr>
            <a:endParaRPr b="0" lang="en-US" sz="1600" spc="-1" strike="noStrike">
              <a:latin typeface="Arial"/>
            </a:endParaRPr>
          </a:p>
          <a:p>
            <a:pPr marL="285840" indent="-285840">
              <a:lnSpc>
                <a:spcPct val="115000"/>
              </a:lnSpc>
              <a:buClr>
                <a:srgbClr val="ffffff"/>
              </a:buClr>
              <a:buFont typeface="Wingdings" charset="2"/>
              <a:buChar char=""/>
              <a:tabLst>
                <a:tab algn="l" pos="0"/>
              </a:tabLst>
            </a:pPr>
            <a:r>
              <a:rPr b="1" lang="en-US" sz="1600" spc="-1" strike="noStrike">
                <a:solidFill>
                  <a:srgbClr val="fcffd9"/>
                </a:solidFill>
                <a:latin typeface="Arial"/>
                <a:ea typeface="Arial"/>
              </a:rPr>
              <a:t> </a:t>
            </a:r>
            <a:r>
              <a:rPr b="1" lang="en-US" sz="1600" spc="-1" strike="noStrike">
                <a:solidFill>
                  <a:srgbClr val="fcffd9"/>
                </a:solidFill>
                <a:latin typeface="Arial"/>
                <a:ea typeface="Arial"/>
              </a:rPr>
              <a:t>Have to visit each city once and only once</a:t>
            </a:r>
            <a:endParaRPr b="0" lang="en-US" sz="1600" spc="-1" strike="noStrike">
              <a:latin typeface="Arial"/>
            </a:endParaRPr>
          </a:p>
          <a:p>
            <a:pPr>
              <a:lnSpc>
                <a:spcPct val="115000"/>
              </a:lnSpc>
              <a:buNone/>
              <a:tabLst>
                <a:tab algn="l" pos="0"/>
              </a:tabLst>
            </a:pPr>
            <a:endParaRPr b="0" lang="en-US" sz="1600" spc="-1" strike="noStrike">
              <a:latin typeface="Arial"/>
            </a:endParaRPr>
          </a:p>
          <a:p>
            <a:pPr marL="285840" indent="-285840">
              <a:lnSpc>
                <a:spcPct val="115000"/>
              </a:lnSpc>
              <a:buClr>
                <a:srgbClr val="ffffff"/>
              </a:buClr>
              <a:buFont typeface="Wingdings" charset="2"/>
              <a:buChar char=""/>
              <a:tabLst>
                <a:tab algn="l" pos="0"/>
              </a:tabLst>
            </a:pPr>
            <a:r>
              <a:rPr b="1" lang="en-US" sz="1600" spc="-1" strike="noStrike">
                <a:solidFill>
                  <a:srgbClr val="fcffd9"/>
                </a:solidFill>
                <a:latin typeface="Arial"/>
                <a:ea typeface="Arial"/>
              </a:rPr>
              <a:t>Have to  return to the original starting point</a:t>
            </a:r>
            <a:endParaRPr b="0" lang="en-US" sz="1600" spc="-1" strike="noStrike">
              <a:latin typeface="Arial"/>
            </a:endParaRPr>
          </a:p>
          <a:p>
            <a:pPr algn="ctr">
              <a:lnSpc>
                <a:spcPct val="80000"/>
              </a:lnSpc>
              <a:buNone/>
              <a:tabLst>
                <a:tab algn="l" pos="0"/>
              </a:tabLst>
            </a:pPr>
            <a:endParaRPr b="0" lang="en-US" sz="224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6" name="Picture 6" descr=""/>
          <p:cNvPicPr/>
          <p:nvPr/>
        </p:nvPicPr>
        <p:blipFill>
          <a:blip r:embed="rId1"/>
          <a:stretch/>
        </p:blipFill>
        <p:spPr>
          <a:xfrm>
            <a:off x="0" y="0"/>
            <a:ext cx="9143640" cy="5143320"/>
          </a:xfrm>
          <a:prstGeom prst="rect">
            <a:avLst/>
          </a:prstGeom>
          <a:ln w="0">
            <a:noFill/>
          </a:ln>
        </p:spPr>
      </p:pic>
      <p:sp>
        <p:nvSpPr>
          <p:cNvPr id="137" name="TextBox 2"/>
          <p:cNvSpPr/>
          <p:nvPr/>
        </p:nvSpPr>
        <p:spPr>
          <a:xfrm>
            <a:off x="192960" y="338400"/>
            <a:ext cx="6070680" cy="5162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i="1" lang="en-US" sz="2800" spc="-1" strike="noStrike">
                <a:solidFill>
                  <a:srgbClr val="ffffff"/>
                </a:solidFill>
                <a:latin typeface="Arial"/>
                <a:ea typeface="Arial"/>
              </a:rPr>
              <a:t>Explanation of the Algorithm : </a:t>
            </a:r>
            <a:endParaRPr b="0" lang="en-US" sz="2800" spc="-1" strike="noStrike">
              <a:latin typeface="Arial"/>
            </a:endParaRPr>
          </a:p>
        </p:txBody>
      </p:sp>
      <p:sp>
        <p:nvSpPr>
          <p:cNvPr id="138" name="TextBox 3"/>
          <p:cNvSpPr/>
          <p:nvPr/>
        </p:nvSpPr>
        <p:spPr>
          <a:xfrm>
            <a:off x="192960" y="1395720"/>
            <a:ext cx="5081760" cy="28904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ffffff"/>
                </a:solidFill>
                <a:latin typeface="Arial"/>
                <a:ea typeface="Arial"/>
              </a:rPr>
              <a:t>The Traveling Salesman Problem (TSP) is a well-known optimization problem in which a salesman needs to visit a set of cities exactly once and return to the starting city, aiming to minimize the total travel distance or cost.</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1" i="1" lang="en-US" sz="1600" spc="-1" strike="noStrike" u="sng">
                <a:solidFill>
                  <a:srgbClr val="ffffff"/>
                </a:solidFill>
                <a:uFillTx/>
                <a:latin typeface="Arial"/>
                <a:ea typeface="Arial"/>
              </a:rPr>
              <a:t>How It Works:</a:t>
            </a:r>
            <a:endParaRPr b="0" lang="en-US" sz="1600" spc="-1" strike="noStrike">
              <a:latin typeface="Arial"/>
            </a:endParaRPr>
          </a:p>
          <a:p>
            <a:pPr>
              <a:lnSpc>
                <a:spcPct val="100000"/>
              </a:lnSpc>
              <a:buNone/>
            </a:pP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Starting Point</a:t>
            </a:r>
            <a:r>
              <a:rPr b="0" lang="en-US" sz="1400" spc="-1" strike="noStrike">
                <a:solidFill>
                  <a:srgbClr val="ffffff"/>
                </a:solidFill>
                <a:latin typeface="Arial"/>
                <a:ea typeface="Arial"/>
              </a:rPr>
              <a:t>: The salesman begins at a specific city.</a:t>
            </a: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Visit All Cities</a:t>
            </a:r>
            <a:r>
              <a:rPr b="0" lang="en-US" sz="1400" spc="-1" strike="noStrike">
                <a:solidFill>
                  <a:srgbClr val="ffffff"/>
                </a:solidFill>
                <a:latin typeface="Arial"/>
                <a:ea typeface="Arial"/>
              </a:rPr>
              <a:t>: The goal is to visit each city exactly once.</a:t>
            </a: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Return to Start</a:t>
            </a:r>
            <a:r>
              <a:rPr b="0" lang="en-US" sz="1400" spc="-1" strike="noStrike">
                <a:solidFill>
                  <a:srgbClr val="ffffff"/>
                </a:solidFill>
                <a:latin typeface="Arial"/>
                <a:ea typeface="Arial"/>
              </a:rPr>
              <a:t>: After visiting all cities, the salesman must return to the starting city.</a:t>
            </a: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Optimize Route</a:t>
            </a:r>
            <a:r>
              <a:rPr b="0" lang="en-US" sz="1400" spc="-1" strike="noStrike" u="sng">
                <a:solidFill>
                  <a:srgbClr val="ffffff"/>
                </a:solidFill>
                <a:uFillTx/>
                <a:latin typeface="Arial"/>
                <a:ea typeface="Arial"/>
              </a:rPr>
              <a:t>: </a:t>
            </a:r>
            <a:r>
              <a:rPr b="0" lang="en-US" sz="1400" spc="-1" strike="noStrike">
                <a:solidFill>
                  <a:srgbClr val="ffffff"/>
                </a:solidFill>
                <a:latin typeface="Arial"/>
                <a:ea typeface="Arial"/>
              </a:rPr>
              <a:t>Among all possible routes, the task is to find the one with the shortest total distance or lowest cost.</a:t>
            </a:r>
            <a:endParaRPr b="0" lang="en-US" sz="1400" spc="-1" strike="noStrike">
              <a:latin typeface="Arial"/>
            </a:endParaRPr>
          </a:p>
        </p:txBody>
      </p:sp>
      <p:sp>
        <p:nvSpPr>
          <p:cNvPr id="139" name="TextBox 4"/>
          <p:cNvSpPr/>
          <p:nvPr/>
        </p:nvSpPr>
        <p:spPr>
          <a:xfrm>
            <a:off x="5464800" y="2057400"/>
            <a:ext cx="3626280" cy="16117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1600" spc="-1" strike="noStrike" u="sng">
                <a:solidFill>
                  <a:srgbClr val="ffffff"/>
                </a:solidFill>
                <a:uFillTx/>
                <a:latin typeface="Arial"/>
                <a:ea typeface="Arial"/>
              </a:rPr>
              <a:t>Why We Use TSP:</a:t>
            </a:r>
            <a:endParaRPr b="0" lang="en-US" sz="1600" spc="-1" strike="noStrike">
              <a:latin typeface="Arial"/>
            </a:endParaRPr>
          </a:p>
          <a:p>
            <a:pPr>
              <a:lnSpc>
                <a:spcPct val="100000"/>
              </a:lnSpc>
              <a:buNone/>
            </a:pP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Efficiency</a:t>
            </a:r>
            <a:r>
              <a:rPr b="0" lang="en-US" sz="1400" spc="-1" strike="noStrike">
                <a:solidFill>
                  <a:srgbClr val="ffffff"/>
                </a:solidFill>
                <a:latin typeface="Arial"/>
                <a:ea typeface="Arial"/>
              </a:rPr>
              <a:t>: It helps in minimizing travel distance and cost, which is crucial in logistics and transportation.</a:t>
            </a:r>
            <a:endParaRPr b="0" lang="en-US" sz="1400" spc="-1" strike="noStrike">
              <a:latin typeface="Arial"/>
            </a:endParaRPr>
          </a:p>
          <a:p>
            <a:pPr>
              <a:lnSpc>
                <a:spcPct val="100000"/>
              </a:lnSpc>
              <a:buNone/>
            </a:pPr>
            <a:r>
              <a:rPr b="1" lang="en-US" sz="1400" spc="-1" strike="noStrike" u="sng">
                <a:solidFill>
                  <a:srgbClr val="ffffff"/>
                </a:solidFill>
                <a:uFillTx/>
                <a:latin typeface="Arial"/>
                <a:ea typeface="Arial"/>
              </a:rPr>
              <a:t>Optimization</a:t>
            </a:r>
            <a:r>
              <a:rPr b="0" lang="en-US" sz="1400" spc="-1" strike="noStrike">
                <a:solidFill>
                  <a:srgbClr val="ffffff"/>
                </a:solidFill>
                <a:latin typeface="Arial"/>
                <a:ea typeface="Arial"/>
              </a:rPr>
              <a:t>: Ensures the most efficient use of resources, such as fuel and time.</a:t>
            </a:r>
            <a:endParaRPr b="0" lang="en-US" sz="1400" spc="-1" strike="noStrike">
              <a:latin typeface="Arial"/>
            </a:endParaRPr>
          </a:p>
        </p:txBody>
      </p:sp>
      <p:sp>
        <p:nvSpPr>
          <p:cNvPr id="140" name="Straight Arrow Connector 8"/>
          <p:cNvSpPr/>
          <p:nvPr/>
        </p:nvSpPr>
        <p:spPr>
          <a:xfrm>
            <a:off x="416880" y="939240"/>
            <a:ext cx="8335080" cy="360"/>
          </a:xfrm>
          <a:custGeom>
            <a:avLst/>
            <a:gdLst/>
            <a:ahLst/>
            <a:rect l="l" t="t" r="r" b="b"/>
            <a:pathLst>
              <a:path w="21600" h="21600">
                <a:moveTo>
                  <a:pt x="0" y="0"/>
                </a:moveTo>
                <a:lnTo>
                  <a:pt x="21600" y="21600"/>
                </a:lnTo>
              </a:path>
            </a:pathLst>
          </a:custGeom>
          <a:noFill/>
          <a:ln>
            <a:solidFill>
              <a:srgbClr val="eeeeee"/>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41" name="Straight Arrow Connector 10"/>
          <p:cNvSpPr/>
          <p:nvPr/>
        </p:nvSpPr>
        <p:spPr>
          <a:xfrm>
            <a:off x="5411880" y="988920"/>
            <a:ext cx="360" cy="4017960"/>
          </a:xfrm>
          <a:custGeom>
            <a:avLst/>
            <a:gdLst/>
            <a:ahLst/>
            <a:rect l="l" t="t" r="r" b="b"/>
            <a:pathLst>
              <a:path w="21600" h="21600">
                <a:moveTo>
                  <a:pt x="0" y="0"/>
                </a:moveTo>
                <a:lnTo>
                  <a:pt x="21600" y="21600"/>
                </a:lnTo>
              </a:path>
            </a:pathLst>
          </a:custGeom>
          <a:noFill/>
          <a:ln>
            <a:solidFill>
              <a:srgbClr val="eeeeee"/>
            </a:solidFill>
            <a:round/>
            <a:headEnd len="med" type="triangle" w="me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2" name="Picture 2" descr=""/>
          <p:cNvPicPr/>
          <p:nvPr/>
        </p:nvPicPr>
        <p:blipFill>
          <a:blip r:embed="rId1"/>
          <a:stretch/>
        </p:blipFill>
        <p:spPr>
          <a:xfrm>
            <a:off x="0" y="6120"/>
            <a:ext cx="9143640" cy="5143320"/>
          </a:xfrm>
          <a:prstGeom prst="rect">
            <a:avLst/>
          </a:prstGeom>
          <a:ln w="0">
            <a:noFill/>
          </a:ln>
        </p:spPr>
      </p:pic>
      <p:sp>
        <p:nvSpPr>
          <p:cNvPr id="143" name="PlaceHolder 1"/>
          <p:cNvSpPr>
            <a:spLocks noGrp="1"/>
          </p:cNvSpPr>
          <p:nvPr>
            <p:ph type="title"/>
          </p:nvPr>
        </p:nvSpPr>
        <p:spPr>
          <a:xfrm>
            <a:off x="311760" y="-405360"/>
            <a:ext cx="8520120" cy="1685520"/>
          </a:xfrm>
          <a:prstGeom prst="rect">
            <a:avLst/>
          </a:prstGeom>
          <a:noFill/>
          <a:ln w="0">
            <a:noFill/>
          </a:ln>
        </p:spPr>
        <p:txBody>
          <a:bodyPr tIns="91440" bIns="91440" anchor="b">
            <a:normAutofit/>
          </a:bodyPr>
          <a:p>
            <a:pPr algn="ctr">
              <a:lnSpc>
                <a:spcPct val="100000"/>
              </a:lnSpc>
              <a:buNone/>
              <a:tabLst>
                <a:tab algn="l" pos="0"/>
              </a:tabLst>
            </a:pPr>
            <a:r>
              <a:rPr b="1" i="1" lang="en-GB" sz="3600" spc="-1" strike="noStrike">
                <a:solidFill>
                  <a:srgbClr val="ffffff"/>
                </a:solidFill>
                <a:latin typeface="Arial"/>
                <a:ea typeface="Arial"/>
              </a:rPr>
              <a:t>Real Life Applications</a:t>
            </a:r>
            <a:r>
              <a:rPr b="0" i="1" lang="en-GB" sz="4400" spc="-1" strike="noStrike">
                <a:solidFill>
                  <a:srgbClr val="ffffff"/>
                </a:solidFill>
                <a:latin typeface="Arial"/>
                <a:ea typeface="Arial"/>
              </a:rPr>
              <a:t> </a:t>
            </a:r>
            <a:endParaRPr b="0" lang="en-US" sz="4400" spc="-1" strike="noStrike">
              <a:solidFill>
                <a:srgbClr val="000000"/>
              </a:solidFill>
              <a:latin typeface="Arial"/>
            </a:endParaRPr>
          </a:p>
        </p:txBody>
      </p:sp>
      <p:sp>
        <p:nvSpPr>
          <p:cNvPr id="144" name="PlaceHolder 2"/>
          <p:cNvSpPr>
            <a:spLocks noGrp="1"/>
          </p:cNvSpPr>
          <p:nvPr>
            <p:ph type="subTitle"/>
          </p:nvPr>
        </p:nvSpPr>
        <p:spPr>
          <a:xfrm>
            <a:off x="225000" y="1281960"/>
            <a:ext cx="8606880" cy="2952720"/>
          </a:xfrm>
          <a:prstGeom prst="rect">
            <a:avLst/>
          </a:prstGeom>
          <a:noFill/>
          <a:ln w="0">
            <a:noFill/>
          </a:ln>
        </p:spPr>
        <p:txBody>
          <a:bodyPr tIns="91440" bIns="91440" anchor="t">
            <a:noAutofit/>
          </a:bodyPr>
          <a:p>
            <a:pPr marL="457200" indent="-358200">
              <a:lnSpc>
                <a:spcPct val="105000"/>
              </a:lnSpc>
              <a:spcBef>
                <a:spcPts val="1199"/>
              </a:spcBef>
              <a:buClr>
                <a:srgbClr val="000000"/>
              </a:buClr>
              <a:buFont typeface="Arial"/>
              <a:buChar char="●"/>
            </a:pPr>
            <a:r>
              <a:rPr b="1" lang="en-GB" sz="2400" spc="-1" strike="noStrike">
                <a:solidFill>
                  <a:srgbClr val="ffffff"/>
                </a:solidFill>
                <a:latin typeface="Arial"/>
                <a:ea typeface="Arial"/>
              </a:rPr>
              <a:t>Logistics &amp; Delivery </a:t>
            </a:r>
            <a:r>
              <a:rPr b="0" lang="en-GB" sz="2400" spc="-1" strike="noStrike">
                <a:solidFill>
                  <a:srgbClr val="ffffff"/>
                </a:solidFill>
                <a:latin typeface="Arial"/>
                <a:ea typeface="Arial"/>
              </a:rPr>
              <a:t>: Helps delivery companies plan the most efficient route for drivers.</a:t>
            </a:r>
            <a:endParaRPr b="0" lang="en-US" sz="2400" spc="-1" strike="noStrike">
              <a:latin typeface="Arial"/>
            </a:endParaRPr>
          </a:p>
          <a:p>
            <a:pPr marL="457200" indent="-358200">
              <a:lnSpc>
                <a:spcPct val="105000"/>
              </a:lnSpc>
              <a:buClr>
                <a:srgbClr val="000000"/>
              </a:buClr>
              <a:buFont typeface="Arial"/>
              <a:buChar char="●"/>
            </a:pPr>
            <a:r>
              <a:rPr b="1" lang="en-GB" sz="2400" spc="-1" strike="noStrike">
                <a:solidFill>
                  <a:srgbClr val="ffffff"/>
                </a:solidFill>
                <a:latin typeface="Arial"/>
                <a:ea typeface="Arial"/>
              </a:rPr>
              <a:t>Manufacturing &amp; Robotics </a:t>
            </a:r>
            <a:r>
              <a:rPr b="0" lang="en-GB" sz="2400" spc="-1" strike="noStrike">
                <a:solidFill>
                  <a:srgbClr val="ffffff"/>
                </a:solidFill>
                <a:latin typeface="Arial"/>
                <a:ea typeface="Arial"/>
              </a:rPr>
              <a:t>: Used to optimize the paths robots take while working in factories.</a:t>
            </a:r>
            <a:endParaRPr b="0" lang="en-US" sz="2400" spc="-1" strike="noStrike">
              <a:latin typeface="Arial"/>
            </a:endParaRPr>
          </a:p>
          <a:p>
            <a:pPr marL="457200" indent="-358200">
              <a:lnSpc>
                <a:spcPct val="105000"/>
              </a:lnSpc>
              <a:buClr>
                <a:srgbClr val="000000"/>
              </a:buClr>
              <a:buFont typeface="Arial"/>
              <a:buChar char="●"/>
            </a:pPr>
            <a:r>
              <a:rPr b="1" lang="en-GB" sz="2400" spc="-1" strike="noStrike">
                <a:solidFill>
                  <a:srgbClr val="ffffff"/>
                </a:solidFill>
                <a:latin typeface="Arial"/>
                <a:ea typeface="Arial"/>
              </a:rPr>
              <a:t>Microchip Production </a:t>
            </a:r>
            <a:r>
              <a:rPr b="0" lang="en-GB" sz="2400" spc="-1" strike="noStrike">
                <a:solidFill>
                  <a:srgbClr val="ffffff"/>
                </a:solidFill>
                <a:latin typeface="Arial"/>
                <a:ea typeface="Arial"/>
              </a:rPr>
              <a:t>: Optimizes the path for tools in electronics manufacturing.</a:t>
            </a:r>
            <a:endParaRPr b="0" lang="en-US" sz="2400" spc="-1" strike="noStrike">
              <a:latin typeface="Arial"/>
            </a:endParaRPr>
          </a:p>
          <a:p>
            <a:pPr marL="457200" indent="-358200">
              <a:lnSpc>
                <a:spcPct val="105000"/>
              </a:lnSpc>
              <a:buClr>
                <a:srgbClr val="000000"/>
              </a:buClr>
              <a:buFont typeface="Arial"/>
              <a:buChar char="●"/>
            </a:pPr>
            <a:r>
              <a:rPr b="1" lang="en-GB" sz="2400" spc="-1" strike="noStrike">
                <a:solidFill>
                  <a:srgbClr val="ffffff"/>
                </a:solidFill>
                <a:latin typeface="Arial"/>
                <a:ea typeface="Arial"/>
              </a:rPr>
              <a:t>Route Planning </a:t>
            </a:r>
            <a:r>
              <a:rPr b="0" lang="en-GB" sz="2400" spc="-1" strike="noStrike">
                <a:solidFill>
                  <a:srgbClr val="ffffff"/>
                </a:solidFill>
                <a:latin typeface="Arial"/>
                <a:ea typeface="Arial"/>
              </a:rPr>
              <a:t>: Used in transportation, like planning the best routes for public transport or taxis.</a:t>
            </a:r>
            <a:endParaRPr b="0" lang="en-US" sz="2400" spc="-1" strike="noStrike">
              <a:latin typeface="Arial"/>
            </a:endParaRPr>
          </a:p>
          <a:p>
            <a:pPr algn="ctr">
              <a:lnSpc>
                <a:spcPct val="90000"/>
              </a:lnSpc>
              <a:spcBef>
                <a:spcPts val="1199"/>
              </a:spcBef>
              <a:buNone/>
              <a:tabLst>
                <a:tab algn="l" pos="0"/>
              </a:tabLst>
            </a:pPr>
            <a:endParaRPr b="0" lang="en-US" sz="1120" spc="-1" strike="noStrike">
              <a:latin typeface="Arial"/>
            </a:endParaRPr>
          </a:p>
        </p:txBody>
      </p:sp>
      <p:sp>
        <p:nvSpPr>
          <p:cNvPr id="145" name="Straight Arrow Connector 3"/>
          <p:cNvSpPr/>
          <p:nvPr/>
        </p:nvSpPr>
        <p:spPr>
          <a:xfrm>
            <a:off x="311760" y="1206720"/>
            <a:ext cx="8614080" cy="360"/>
          </a:xfrm>
          <a:custGeom>
            <a:avLst/>
            <a:gdLst/>
            <a:ahLst/>
            <a:rect l="l" t="t" r="r" b="b"/>
            <a:pathLst>
              <a:path w="21600" h="21600">
                <a:moveTo>
                  <a:pt x="0" y="0"/>
                </a:moveTo>
                <a:lnTo>
                  <a:pt x="21600" y="21600"/>
                </a:lnTo>
              </a:path>
            </a:pathLst>
          </a:custGeom>
          <a:noFill/>
          <a:ln>
            <a:solidFill>
              <a:srgbClr val="eeeeee"/>
            </a:solidFill>
            <a:round/>
            <a:headEnd len="med" type="triangle" w="me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Picture 2" descr=""/>
          <p:cNvPicPr/>
          <p:nvPr/>
        </p:nvPicPr>
        <p:blipFill>
          <a:blip r:embed="rId1"/>
          <a:stretch/>
        </p:blipFill>
        <p:spPr>
          <a:xfrm>
            <a:off x="0" y="0"/>
            <a:ext cx="9143640" cy="5143320"/>
          </a:xfrm>
          <a:prstGeom prst="rect">
            <a:avLst/>
          </a:prstGeom>
          <a:ln w="0">
            <a:noFill/>
          </a:ln>
        </p:spPr>
      </p:pic>
      <p:sp>
        <p:nvSpPr>
          <p:cNvPr id="147" name="PlaceHolder 1"/>
          <p:cNvSpPr>
            <a:spLocks noGrp="1"/>
          </p:cNvSpPr>
          <p:nvPr>
            <p:ph type="title"/>
          </p:nvPr>
        </p:nvSpPr>
        <p:spPr>
          <a:xfrm>
            <a:off x="242280" y="106200"/>
            <a:ext cx="6907320" cy="825480"/>
          </a:xfrm>
          <a:prstGeom prst="rect">
            <a:avLst/>
          </a:prstGeom>
          <a:noFill/>
          <a:ln w="0">
            <a:noFill/>
          </a:ln>
        </p:spPr>
        <p:txBody>
          <a:bodyPr tIns="91440" bIns="91440" anchor="b">
            <a:noAutofit/>
          </a:bodyPr>
          <a:p>
            <a:pPr>
              <a:lnSpc>
                <a:spcPct val="115000"/>
              </a:lnSpc>
              <a:buNone/>
              <a:tabLst>
                <a:tab algn="l" pos="0"/>
              </a:tabLst>
            </a:pPr>
            <a:r>
              <a:rPr b="1" lang="en-GB" sz="3200" spc="-1" strike="noStrike" u="sng">
                <a:solidFill>
                  <a:srgbClr val="ffffff"/>
                </a:solidFill>
                <a:uFillTx/>
                <a:latin typeface="Arial"/>
                <a:ea typeface="Arial"/>
              </a:rPr>
              <a:t>Graphical Representation : </a:t>
            </a:r>
            <a:endParaRPr b="0" lang="en-US" sz="3200" spc="-1" strike="noStrike">
              <a:solidFill>
                <a:srgbClr val="000000"/>
              </a:solidFill>
              <a:latin typeface="Arial"/>
            </a:endParaRPr>
          </a:p>
        </p:txBody>
      </p:sp>
      <p:sp>
        <p:nvSpPr>
          <p:cNvPr id="148" name="PlaceHolder 2"/>
          <p:cNvSpPr>
            <a:spLocks noGrp="1"/>
          </p:cNvSpPr>
          <p:nvPr>
            <p:ph type="subTitle"/>
          </p:nvPr>
        </p:nvSpPr>
        <p:spPr>
          <a:xfrm>
            <a:off x="242280" y="932040"/>
            <a:ext cx="8738280" cy="4025160"/>
          </a:xfrm>
          <a:prstGeom prst="rect">
            <a:avLst/>
          </a:prstGeom>
          <a:noFill/>
          <a:ln w="0">
            <a:noFill/>
          </a:ln>
        </p:spPr>
        <p:txBody>
          <a:bodyPr tIns="91440" bIns="91440" anchor="t">
            <a:normAutofit/>
          </a:bodyPr>
          <a:p>
            <a:pPr algn="ctr">
              <a:buNone/>
            </a:pPr>
            <a:endParaRPr b="0" lang="en-US" sz="3200" spc="-1" strike="noStrike">
              <a:latin typeface="Arial"/>
            </a:endParaRPr>
          </a:p>
        </p:txBody>
      </p:sp>
      <p:pic>
        <p:nvPicPr>
          <p:cNvPr id="149" name="Google Shape;90;p18" descr=""/>
          <p:cNvPicPr/>
          <p:nvPr/>
        </p:nvPicPr>
        <p:blipFill>
          <a:blip r:embed="rId2"/>
          <a:stretch/>
        </p:blipFill>
        <p:spPr>
          <a:xfrm>
            <a:off x="2159280" y="1222920"/>
            <a:ext cx="6821280" cy="3734280"/>
          </a:xfrm>
          <a:prstGeom prst="rect">
            <a:avLst/>
          </a:prstGeom>
          <a:ln w="0">
            <a:noFill/>
          </a:ln>
        </p:spPr>
      </p:pic>
      <p:sp>
        <p:nvSpPr>
          <p:cNvPr id="150" name="Google Shape;91;p18"/>
          <p:cNvSpPr/>
          <p:nvPr/>
        </p:nvSpPr>
        <p:spPr>
          <a:xfrm>
            <a:off x="635400" y="1050840"/>
            <a:ext cx="3752640" cy="2339640"/>
          </a:xfrm>
          <a:prstGeom prst="rect">
            <a:avLst/>
          </a:prstGeom>
          <a:noFill/>
          <a:ln w="0">
            <a:noFill/>
          </a:ln>
        </p:spPr>
        <p:style>
          <a:lnRef idx="0"/>
          <a:fillRef idx="0"/>
          <a:effectRef idx="0"/>
          <a:fontRef idx="minor"/>
        </p:style>
        <p:txBody>
          <a:bodyPr tIns="91440" bIns="91440" anchor="ctr">
            <a:noAutofit/>
          </a:bodyPr>
          <a:p>
            <a:pPr>
              <a:lnSpc>
                <a:spcPct val="115000"/>
              </a:lnSpc>
              <a:buNone/>
              <a:tabLst>
                <a:tab algn="l" pos="0"/>
              </a:tabLst>
            </a:pPr>
            <a:endParaRPr b="0" lang="en-US" sz="1150" spc="-1" strike="noStrike">
              <a:latin typeface="Arial"/>
            </a:endParaRPr>
          </a:p>
          <a:p>
            <a:pPr>
              <a:lnSpc>
                <a:spcPct val="115000"/>
              </a:lnSpc>
              <a:buNone/>
              <a:tabLst>
                <a:tab algn="l" pos="0"/>
              </a:tabLst>
            </a:pPr>
            <a:endParaRPr b="0" lang="en-US" sz="1150" spc="-1" strike="noStrike">
              <a:latin typeface="Arial"/>
            </a:endParaRPr>
          </a:p>
          <a:p>
            <a:pPr>
              <a:lnSpc>
                <a:spcPct val="115000"/>
              </a:lnSpc>
              <a:buNone/>
              <a:tabLst>
                <a:tab algn="l" pos="0"/>
              </a:tabLst>
            </a:pPr>
            <a:endParaRPr b="0" lang="en-US" sz="1150" spc="-1" strike="noStrike">
              <a:latin typeface="Arial"/>
            </a:endParaRPr>
          </a:p>
          <a:p>
            <a:pPr>
              <a:lnSpc>
                <a:spcPct val="115000"/>
              </a:lnSpc>
              <a:buNone/>
              <a:tabLst>
                <a:tab algn="l" pos="0"/>
              </a:tabLst>
            </a:pPr>
            <a:endParaRPr b="0" lang="en-US" sz="115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1" name="Picture 3" descr=""/>
          <p:cNvPicPr/>
          <p:nvPr/>
        </p:nvPicPr>
        <p:blipFill>
          <a:blip r:embed="rId1"/>
          <a:srcRect l="-3383" t="-1479" r="3383" b="1479"/>
          <a:stretch/>
        </p:blipFill>
        <p:spPr>
          <a:xfrm>
            <a:off x="2601000" y="627840"/>
            <a:ext cx="6471000" cy="3976560"/>
          </a:xfrm>
          <a:prstGeom prst="rect">
            <a:avLst/>
          </a:prstGeom>
          <a:ln w="0">
            <a:noFill/>
          </a:ln>
        </p:spPr>
      </p:pic>
      <p:pic>
        <p:nvPicPr>
          <p:cNvPr id="152" name="Picture 5" descr=""/>
          <p:cNvPicPr/>
          <p:nvPr/>
        </p:nvPicPr>
        <p:blipFill>
          <a:blip r:embed="rId2"/>
          <a:stretch/>
        </p:blipFill>
        <p:spPr>
          <a:xfrm>
            <a:off x="71640" y="979920"/>
            <a:ext cx="3420360" cy="3018960"/>
          </a:xfrm>
          <a:prstGeom prst="rect">
            <a:avLst/>
          </a:prstGeom>
          <a:ln w="0">
            <a:noFill/>
          </a:ln>
        </p:spPr>
      </p:pic>
      <p:sp>
        <p:nvSpPr>
          <p:cNvPr id="153" name="Straight Arrow Connector 7"/>
          <p:cNvSpPr/>
          <p:nvPr/>
        </p:nvSpPr>
        <p:spPr>
          <a:xfrm>
            <a:off x="317160" y="453960"/>
            <a:ext cx="8527680" cy="360"/>
          </a:xfrm>
          <a:custGeom>
            <a:avLst/>
            <a:gdLst/>
            <a:ahLst/>
            <a:rect l="l" t="t" r="r" b="b"/>
            <a:pathLst>
              <a:path w="21600" h="21600">
                <a:moveTo>
                  <a:pt x="0" y="0"/>
                </a:moveTo>
                <a:lnTo>
                  <a:pt x="21600" y="21600"/>
                </a:lnTo>
              </a:path>
            </a:pathLst>
          </a:custGeom>
          <a:noFill/>
          <a:ln>
            <a:solidFill>
              <a:srgbClr val="3c81f2"/>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54" name="Straight Arrow Connector 9"/>
          <p:cNvSpPr/>
          <p:nvPr/>
        </p:nvSpPr>
        <p:spPr>
          <a:xfrm>
            <a:off x="248760" y="4689360"/>
            <a:ext cx="8823240" cy="360"/>
          </a:xfrm>
          <a:custGeom>
            <a:avLst/>
            <a:gdLst/>
            <a:ahLst/>
            <a:rect l="l" t="t" r="r" b="b"/>
            <a:pathLst>
              <a:path w="21600" h="21600">
                <a:moveTo>
                  <a:pt x="0" y="0"/>
                </a:moveTo>
                <a:lnTo>
                  <a:pt x="21600" y="21600"/>
                </a:lnTo>
              </a:path>
            </a:pathLst>
          </a:custGeom>
          <a:noFill/>
          <a:ln>
            <a:solidFill>
              <a:srgbClr val="3c81f2"/>
            </a:solidFill>
            <a:round/>
            <a:headEnd len="med" type="triangle" w="me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5" name="Picture 3" descr=""/>
          <p:cNvPicPr/>
          <p:nvPr/>
        </p:nvPicPr>
        <p:blipFill>
          <a:blip r:embed="rId1"/>
          <a:stretch/>
        </p:blipFill>
        <p:spPr>
          <a:xfrm>
            <a:off x="0" y="721080"/>
            <a:ext cx="5228640" cy="4341600"/>
          </a:xfrm>
          <a:prstGeom prst="rect">
            <a:avLst/>
          </a:prstGeom>
          <a:ln w="0">
            <a:noFill/>
          </a:ln>
        </p:spPr>
      </p:pic>
      <p:sp>
        <p:nvSpPr>
          <p:cNvPr id="156" name="TextBox 7"/>
          <p:cNvSpPr/>
          <p:nvPr/>
        </p:nvSpPr>
        <p:spPr>
          <a:xfrm>
            <a:off x="373320" y="236520"/>
            <a:ext cx="2612160" cy="3639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u="sng">
                <a:solidFill>
                  <a:srgbClr val="000000"/>
                </a:solidFill>
                <a:uFillTx/>
                <a:latin typeface="Arial"/>
                <a:ea typeface="Arial"/>
              </a:rPr>
              <a:t>Pseudocode</a:t>
            </a:r>
            <a:endParaRPr b="0" lang="en-US" sz="1800" spc="-1" strike="noStrike">
              <a:latin typeface="Arial"/>
            </a:endParaRPr>
          </a:p>
        </p:txBody>
      </p:sp>
      <p:sp>
        <p:nvSpPr>
          <p:cNvPr id="157" name="TextBox 8"/>
          <p:cNvSpPr/>
          <p:nvPr/>
        </p:nvSpPr>
        <p:spPr>
          <a:xfrm>
            <a:off x="6338520" y="236520"/>
            <a:ext cx="20275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u="sng">
                <a:solidFill>
                  <a:srgbClr val="000000"/>
                </a:solidFill>
                <a:uFillTx/>
                <a:latin typeface="Arial"/>
                <a:ea typeface="Arial"/>
              </a:rPr>
              <a:t>Analysis of Complexity </a:t>
            </a:r>
            <a:endParaRPr b="0" lang="en-US" sz="1400" spc="-1" strike="noStrike">
              <a:latin typeface="Arial"/>
            </a:endParaRPr>
          </a:p>
        </p:txBody>
      </p:sp>
      <p:sp>
        <p:nvSpPr>
          <p:cNvPr id="158" name="Straight Arrow Connector 10"/>
          <p:cNvSpPr/>
          <p:nvPr/>
        </p:nvSpPr>
        <p:spPr>
          <a:xfrm>
            <a:off x="5903280" y="1138320"/>
            <a:ext cx="1629360" cy="36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59" name="Right Brace 11"/>
          <p:cNvSpPr/>
          <p:nvPr/>
        </p:nvSpPr>
        <p:spPr>
          <a:xfrm>
            <a:off x="4572000" y="858240"/>
            <a:ext cx="182160" cy="621360"/>
          </a:xfrm>
          <a:prstGeom prst="rightBrace">
            <a:avLst>
              <a:gd name="adj1" fmla="val 8333"/>
              <a:gd name="adj2" fmla="val 50000"/>
            </a:avLst>
          </a:prstGeom>
          <a:noFill/>
          <a:ln>
            <a:solidFill>
              <a:srgbClr val="3c81f2"/>
            </a:solidFill>
            <a:round/>
          </a:ln>
        </p:spPr>
        <p:style>
          <a:lnRef idx="1">
            <a:schemeClr val="accent1"/>
          </a:lnRef>
          <a:fillRef idx="0">
            <a:schemeClr val="accent1"/>
          </a:fillRef>
          <a:effectRef idx="0">
            <a:schemeClr val="accent1"/>
          </a:effectRef>
          <a:fontRef idx="minor"/>
        </p:style>
      </p:sp>
      <p:sp>
        <p:nvSpPr>
          <p:cNvPr id="160" name="TextBox 12"/>
          <p:cNvSpPr/>
          <p:nvPr/>
        </p:nvSpPr>
        <p:spPr>
          <a:xfrm>
            <a:off x="5368320" y="973440"/>
            <a:ext cx="33026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(1-4)                                       O(1)</a:t>
            </a:r>
            <a:endParaRPr b="0" lang="en-US" sz="1400" spc="-1" strike="noStrike">
              <a:latin typeface="Arial"/>
            </a:endParaRPr>
          </a:p>
        </p:txBody>
      </p:sp>
      <p:sp>
        <p:nvSpPr>
          <p:cNvPr id="161" name="Straight Arrow Connector 14"/>
          <p:cNvSpPr/>
          <p:nvPr/>
        </p:nvSpPr>
        <p:spPr>
          <a:xfrm>
            <a:off x="3800520" y="1648440"/>
            <a:ext cx="3731760" cy="36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62" name="Straight Arrow Connector 16"/>
          <p:cNvSpPr/>
          <p:nvPr/>
        </p:nvSpPr>
        <p:spPr>
          <a:xfrm flipV="1">
            <a:off x="2481840" y="1815480"/>
            <a:ext cx="5050440" cy="5580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63" name="Right Brace 17"/>
          <p:cNvSpPr/>
          <p:nvPr/>
        </p:nvSpPr>
        <p:spPr>
          <a:xfrm>
            <a:off x="7644960" y="1580040"/>
            <a:ext cx="65880" cy="307440"/>
          </a:xfrm>
          <a:prstGeom prst="rightBrace">
            <a:avLst>
              <a:gd name="adj1" fmla="val 8333"/>
              <a:gd name="adj2" fmla="val 50000"/>
            </a:avLst>
          </a:prstGeom>
          <a:noFill/>
          <a:ln>
            <a:solidFill>
              <a:srgbClr val="3c81f2"/>
            </a:solidFill>
            <a:round/>
          </a:ln>
        </p:spPr>
        <p:style>
          <a:lnRef idx="1">
            <a:schemeClr val="accent1"/>
          </a:lnRef>
          <a:fillRef idx="0">
            <a:schemeClr val="accent1"/>
          </a:fillRef>
          <a:effectRef idx="0">
            <a:schemeClr val="accent1"/>
          </a:effectRef>
          <a:fontRef idx="minor"/>
        </p:style>
      </p:sp>
      <p:sp>
        <p:nvSpPr>
          <p:cNvPr id="164" name="TextBox 18"/>
          <p:cNvSpPr/>
          <p:nvPr/>
        </p:nvSpPr>
        <p:spPr>
          <a:xfrm>
            <a:off x="7794000" y="1580040"/>
            <a:ext cx="6404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O(n)</a:t>
            </a:r>
            <a:endParaRPr b="0" lang="en-US" sz="1400" spc="-1" strike="noStrike">
              <a:latin typeface="Arial"/>
            </a:endParaRPr>
          </a:p>
        </p:txBody>
      </p:sp>
      <p:sp>
        <p:nvSpPr>
          <p:cNvPr id="165" name="Straight Arrow Connector 20"/>
          <p:cNvSpPr/>
          <p:nvPr/>
        </p:nvSpPr>
        <p:spPr>
          <a:xfrm>
            <a:off x="4429080" y="2090160"/>
            <a:ext cx="3103560" cy="36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66" name="TextBox 21"/>
          <p:cNvSpPr/>
          <p:nvPr/>
        </p:nvSpPr>
        <p:spPr>
          <a:xfrm>
            <a:off x="7711200" y="1946880"/>
            <a:ext cx="100944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O(n-1)</a:t>
            </a:r>
            <a:endParaRPr b="0" lang="en-US" sz="1400" spc="-1" strike="noStrike">
              <a:latin typeface="Arial"/>
            </a:endParaRPr>
          </a:p>
        </p:txBody>
      </p:sp>
      <p:sp>
        <p:nvSpPr>
          <p:cNvPr id="167" name="Right Brace 22"/>
          <p:cNvSpPr/>
          <p:nvPr/>
        </p:nvSpPr>
        <p:spPr>
          <a:xfrm>
            <a:off x="5604480" y="2254680"/>
            <a:ext cx="540720" cy="1749960"/>
          </a:xfrm>
          <a:prstGeom prst="rightBrace">
            <a:avLst>
              <a:gd name="adj1" fmla="val 8333"/>
              <a:gd name="adj2" fmla="val 50000"/>
            </a:avLst>
          </a:prstGeom>
          <a:noFill/>
          <a:ln>
            <a:solidFill>
              <a:srgbClr val="3c81f2"/>
            </a:solidFill>
            <a:round/>
          </a:ln>
        </p:spPr>
        <p:style>
          <a:lnRef idx="1">
            <a:schemeClr val="accent1"/>
          </a:lnRef>
          <a:fillRef idx="0">
            <a:schemeClr val="accent1"/>
          </a:fillRef>
          <a:effectRef idx="0">
            <a:schemeClr val="accent1"/>
          </a:effectRef>
          <a:fontRef idx="minor"/>
        </p:style>
      </p:sp>
      <p:sp>
        <p:nvSpPr>
          <p:cNvPr id="168" name="Straight Arrow Connector 24"/>
          <p:cNvSpPr/>
          <p:nvPr/>
        </p:nvSpPr>
        <p:spPr>
          <a:xfrm>
            <a:off x="6338520" y="3135240"/>
            <a:ext cx="1194120" cy="36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69" name="TextBox 25"/>
          <p:cNvSpPr/>
          <p:nvPr/>
        </p:nvSpPr>
        <p:spPr>
          <a:xfrm>
            <a:off x="6338520" y="2463120"/>
            <a:ext cx="130608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For one permutation</a:t>
            </a:r>
            <a:endParaRPr b="0" lang="en-US" sz="1400" spc="-1" strike="noStrike">
              <a:latin typeface="Arial"/>
            </a:endParaRPr>
          </a:p>
        </p:txBody>
      </p:sp>
      <p:sp>
        <p:nvSpPr>
          <p:cNvPr id="170" name="TextBox 26"/>
          <p:cNvSpPr/>
          <p:nvPr/>
        </p:nvSpPr>
        <p:spPr>
          <a:xfrm>
            <a:off x="6413400" y="3315600"/>
            <a:ext cx="12312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O(n-1)=O(n)</a:t>
            </a:r>
            <a:endParaRPr b="0" lang="en-US" sz="1400" spc="-1" strike="noStrike">
              <a:latin typeface="Arial"/>
            </a:endParaRPr>
          </a:p>
        </p:txBody>
      </p:sp>
      <p:sp>
        <p:nvSpPr>
          <p:cNvPr id="171" name="TextBox 27"/>
          <p:cNvSpPr/>
          <p:nvPr/>
        </p:nvSpPr>
        <p:spPr>
          <a:xfrm>
            <a:off x="7533000" y="2369880"/>
            <a:ext cx="1424160" cy="1581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For all permutation</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O(n.(n-1)! )</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p:txBody>
      </p:sp>
      <p:sp>
        <p:nvSpPr>
          <p:cNvPr id="172" name="Right Brace 28"/>
          <p:cNvSpPr/>
          <p:nvPr/>
        </p:nvSpPr>
        <p:spPr>
          <a:xfrm>
            <a:off x="5604480" y="4118040"/>
            <a:ext cx="453600" cy="254520"/>
          </a:xfrm>
          <a:prstGeom prst="rightBrace">
            <a:avLst>
              <a:gd name="adj1" fmla="val 8333"/>
              <a:gd name="adj2" fmla="val 50000"/>
            </a:avLst>
          </a:prstGeom>
          <a:noFill/>
          <a:ln>
            <a:solidFill>
              <a:srgbClr val="3c81f2"/>
            </a:solidFill>
            <a:round/>
          </a:ln>
        </p:spPr>
        <p:style>
          <a:lnRef idx="1">
            <a:schemeClr val="accent1"/>
          </a:lnRef>
          <a:fillRef idx="0">
            <a:schemeClr val="accent1"/>
          </a:fillRef>
          <a:effectRef idx="0">
            <a:schemeClr val="accent1"/>
          </a:effectRef>
          <a:fontRef idx="minor"/>
        </p:style>
      </p:sp>
      <p:sp>
        <p:nvSpPr>
          <p:cNvPr id="173" name="Straight Arrow Connector 30"/>
          <p:cNvSpPr/>
          <p:nvPr/>
        </p:nvSpPr>
        <p:spPr>
          <a:xfrm flipV="1">
            <a:off x="6189480" y="4244760"/>
            <a:ext cx="1604520" cy="900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74" name="Straight Arrow Connector 96"/>
          <p:cNvSpPr/>
          <p:nvPr/>
        </p:nvSpPr>
        <p:spPr>
          <a:xfrm flipV="1">
            <a:off x="4902840" y="4615560"/>
            <a:ext cx="2956320" cy="5580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75" name="Straight Arrow Connector 98"/>
          <p:cNvSpPr/>
          <p:nvPr/>
        </p:nvSpPr>
        <p:spPr>
          <a:xfrm flipV="1">
            <a:off x="2481840" y="4691520"/>
            <a:ext cx="5376960" cy="17352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
        <p:nvSpPr>
          <p:cNvPr id="176" name="TextBox 99"/>
          <p:cNvSpPr/>
          <p:nvPr/>
        </p:nvSpPr>
        <p:spPr>
          <a:xfrm>
            <a:off x="7794000" y="3623400"/>
            <a:ext cx="1231200" cy="13683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O((n-1)!)</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O(1)</a:t>
            </a:r>
            <a:endParaRPr b="0" lang="en-US" sz="1400" spc="-1" strike="noStrike">
              <a:latin typeface="Arial"/>
            </a:endParaRPr>
          </a:p>
          <a:p>
            <a:pPr>
              <a:lnSpc>
                <a:spcPct val="100000"/>
              </a:lnSpc>
              <a:buNone/>
            </a:pPr>
            <a:endParaRPr b="0" lang="en-US" sz="14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TextBox 2"/>
          <p:cNvSpPr/>
          <p:nvPr/>
        </p:nvSpPr>
        <p:spPr>
          <a:xfrm>
            <a:off x="1123560" y="396720"/>
            <a:ext cx="40636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2400" spc="-1" strike="noStrike">
                <a:solidFill>
                  <a:srgbClr val="000000"/>
                </a:solidFill>
                <a:latin typeface="Aptos Narrow"/>
                <a:ea typeface="Arial"/>
              </a:rPr>
              <a:t>Analysis of Complexity</a:t>
            </a:r>
            <a:endParaRPr b="0" lang="en-US" sz="2400" spc="-1" strike="noStrike">
              <a:latin typeface="Arial"/>
            </a:endParaRPr>
          </a:p>
        </p:txBody>
      </p:sp>
      <p:sp>
        <p:nvSpPr>
          <p:cNvPr id="178" name="TextBox 4"/>
          <p:cNvSpPr/>
          <p:nvPr/>
        </p:nvSpPr>
        <p:spPr>
          <a:xfrm>
            <a:off x="254880" y="1088640"/>
            <a:ext cx="6602760" cy="2525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000000"/>
                </a:solidFill>
                <a:latin typeface="Arial"/>
                <a:ea typeface="Arial"/>
              </a:rPr>
              <a:t>Overall Time Complexity:</a:t>
            </a:r>
            <a:endParaRPr b="0" lang="en-US" sz="1400" spc="-1" strike="noStrike">
              <a:latin typeface="Arial"/>
            </a:endParaRPr>
          </a:p>
          <a:p>
            <a:pPr>
              <a:lnSpc>
                <a:spcPct val="100000"/>
              </a:lnSpc>
              <a:buNone/>
            </a:pPr>
            <a:r>
              <a:rPr b="0" lang="en-US" sz="1400" spc="-1" strike="noStrike">
                <a:solidFill>
                  <a:srgbClr val="000000"/>
                </a:solidFill>
                <a:latin typeface="Arial"/>
                <a:ea typeface="Arial"/>
              </a:rPr>
              <a:t>The dominant term comes from iterating over all permutations and calculating the cost for each one, which is:</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                                      </a:t>
            </a:r>
            <a:endParaRPr b="0" lang="en-US" sz="1400" spc="-1" strike="noStrike">
              <a:latin typeface="Arial"/>
            </a:endParaRPr>
          </a:p>
          <a:p>
            <a:pPr>
              <a:lnSpc>
                <a:spcPct val="100000"/>
              </a:lnSpc>
              <a:buNone/>
            </a:pPr>
            <a:r>
              <a:rPr b="1" lang="en-US" sz="1400" spc="-1" strike="noStrike">
                <a:solidFill>
                  <a:srgbClr val="000000"/>
                </a:solidFill>
                <a:latin typeface="Arial"/>
                <a:ea typeface="Arial"/>
              </a:rPr>
              <a:t>                                   </a:t>
            </a:r>
            <a:r>
              <a:rPr b="1" lang="en-US" sz="2000" spc="-1" strike="noStrike">
                <a:solidFill>
                  <a:srgbClr val="000000"/>
                </a:solidFill>
                <a:latin typeface="Arial"/>
                <a:ea typeface="Arial"/>
              </a:rPr>
              <a:t>O(n. (n-1)!) = O(n!)</a:t>
            </a:r>
            <a:endParaRPr b="0" lang="en-US" sz="2000" spc="-1" strike="noStrike">
              <a:latin typeface="Arial"/>
            </a:endParaRPr>
          </a:p>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 </a:t>
            </a:r>
            <a:r>
              <a:rPr b="0" lang="en-US" sz="1400" spc="-1" strike="noStrike">
                <a:solidFill>
                  <a:srgbClr val="000000"/>
                </a:solidFill>
                <a:latin typeface="Arial"/>
                <a:ea typeface="Arial"/>
              </a:rPr>
              <a:t>Here n is the number of nodes (cities). This is because the algorithm checks every possible permutation of the cities and calculates the total cost for each one.</a:t>
            </a:r>
            <a:endParaRPr b="0" lang="en-US" sz="1400" spc="-1" strike="noStrike">
              <a:latin typeface="Arial"/>
            </a:endParaRPr>
          </a:p>
        </p:txBody>
      </p:sp>
      <p:sp>
        <p:nvSpPr>
          <p:cNvPr id="179" name="Straight Arrow Connector 6"/>
          <p:cNvSpPr/>
          <p:nvPr/>
        </p:nvSpPr>
        <p:spPr>
          <a:xfrm>
            <a:off x="320040" y="846000"/>
            <a:ext cx="8488440" cy="360"/>
          </a:xfrm>
          <a:custGeom>
            <a:avLst/>
            <a:gdLst/>
            <a:ahLst/>
            <a:rect l="l" t="t" r="r" b="b"/>
            <a:pathLst>
              <a:path w="21600" h="21600">
                <a:moveTo>
                  <a:pt x="0" y="0"/>
                </a:moveTo>
                <a:lnTo>
                  <a:pt x="21600" y="21600"/>
                </a:lnTo>
              </a:path>
            </a:pathLst>
          </a:custGeom>
          <a:noFill/>
          <a:ln>
            <a:solidFill>
              <a:srgbClr val="3c81f2"/>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80" name="Straight Arrow Connector 8"/>
          <p:cNvSpPr/>
          <p:nvPr/>
        </p:nvSpPr>
        <p:spPr>
          <a:xfrm>
            <a:off x="175320" y="4175640"/>
            <a:ext cx="8518680" cy="360"/>
          </a:xfrm>
          <a:custGeom>
            <a:avLst/>
            <a:gdLst/>
            <a:ahLst/>
            <a:rect l="l" t="t" r="r" b="b"/>
            <a:pathLst>
              <a:path w="21600" h="21600">
                <a:moveTo>
                  <a:pt x="0" y="0"/>
                </a:moveTo>
                <a:lnTo>
                  <a:pt x="21600" y="21600"/>
                </a:lnTo>
              </a:path>
            </a:pathLst>
          </a:custGeom>
          <a:noFill/>
          <a:ln>
            <a:solidFill>
              <a:srgbClr val="3c81f2"/>
            </a:solidFill>
            <a:round/>
            <a:headEnd len="med" type="triangle" w="me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156240" y="106200"/>
            <a:ext cx="5418360" cy="498600"/>
          </a:xfrm>
          <a:prstGeom prst="rect">
            <a:avLst/>
          </a:prstGeom>
          <a:noFill/>
          <a:ln w="0">
            <a:noFill/>
          </a:ln>
        </p:spPr>
        <p:txBody>
          <a:bodyPr tIns="91440" bIns="91440" anchor="t">
            <a:normAutofit fontScale="74000"/>
          </a:bodyPr>
          <a:p>
            <a:pPr>
              <a:lnSpc>
                <a:spcPct val="100000"/>
              </a:lnSpc>
              <a:buNone/>
              <a:tabLst>
                <a:tab algn="l" pos="0"/>
              </a:tabLst>
            </a:pPr>
            <a:r>
              <a:rPr b="1" lang="en-GB" sz="2800" spc="-1" strike="noStrike">
                <a:solidFill>
                  <a:srgbClr val="000000"/>
                </a:solidFill>
                <a:latin typeface="Arial"/>
                <a:ea typeface="Arial"/>
              </a:rPr>
              <a:t>Code : </a:t>
            </a:r>
            <a:endParaRPr b="0" lang="en-US" sz="2800" spc="-1" strike="noStrike">
              <a:solidFill>
                <a:srgbClr val="000000"/>
              </a:solidFill>
              <a:latin typeface="Arial"/>
            </a:endParaRPr>
          </a:p>
        </p:txBody>
      </p:sp>
      <p:sp>
        <p:nvSpPr>
          <p:cNvPr id="182" name="PlaceHolder 2"/>
          <p:cNvSpPr>
            <a:spLocks noGrp="1"/>
          </p:cNvSpPr>
          <p:nvPr>
            <p:ph/>
          </p:nvPr>
        </p:nvSpPr>
        <p:spPr>
          <a:xfrm>
            <a:off x="156240" y="605160"/>
            <a:ext cx="7740720" cy="4437720"/>
          </a:xfrm>
          <a:prstGeom prst="rect">
            <a:avLst/>
          </a:prstGeom>
          <a:noFill/>
          <a:ln w="0">
            <a:noFill/>
          </a:ln>
        </p:spPr>
        <p:txBody>
          <a:bodyPr tIns="91440" bIns="91440" anchor="t">
            <a:noAutofit/>
          </a:bodyPr>
          <a:p>
            <a:pPr>
              <a:lnSpc>
                <a:spcPct val="115000"/>
              </a:lnSpc>
              <a:buNone/>
              <a:tabLst>
                <a:tab algn="l" pos="0"/>
              </a:tabLst>
            </a:pPr>
            <a:r>
              <a:rPr b="1" lang="en-GB" sz="1150" spc="-1" strike="noStrike">
                <a:solidFill>
                  <a:srgbClr val="000000"/>
                </a:solidFill>
                <a:latin typeface="Arial"/>
                <a:ea typeface="Arial"/>
              </a:rPr>
              <a:t>#include &lt;iostream&gt;</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#include &lt;bits/stdc++.h&gt;</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using namespace std;</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Function to get the name of a city given its index</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char getCityName(int index) {</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return 'A' + index;</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int tsp(vector&lt;vector&lt;int&gt;&gt; &amp;cost) {</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 Number of nodes</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int numNodes = cost.size();</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vector&lt;int&gt; nodes;</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 Initialize the nodes excluding the fixed starting point (node 0)</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for (int i = 1; i &lt; numNodes; i++)</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nodes.push_back(i);</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int minCost = INT_MAX;</a:t>
            </a:r>
            <a:endParaRPr b="0" lang="en-US" sz="1150" spc="-1" strike="noStrike">
              <a:solidFill>
                <a:srgbClr val="000000"/>
              </a:solidFill>
              <a:latin typeface="Arial"/>
            </a:endParaRPr>
          </a:p>
          <a:p>
            <a:pPr>
              <a:lnSpc>
                <a:spcPct val="115000"/>
              </a:lnSpc>
              <a:buNone/>
              <a:tabLst>
                <a:tab algn="l" pos="0"/>
              </a:tabLst>
            </a:pPr>
            <a:r>
              <a:rPr b="1" lang="en-GB" sz="1150" spc="-1" strike="noStrike">
                <a:solidFill>
                  <a:srgbClr val="000000"/>
                </a:solidFill>
                <a:latin typeface="Arial"/>
                <a:ea typeface="Arial"/>
              </a:rPr>
              <a:t>    </a:t>
            </a:r>
            <a:r>
              <a:rPr b="1" lang="en-GB" sz="1150" spc="-1" strike="noStrike">
                <a:solidFill>
                  <a:srgbClr val="000000"/>
                </a:solidFill>
                <a:latin typeface="Arial"/>
                <a:ea typeface="Arial"/>
              </a:rPr>
              <a:t>vector&lt;int&gt; bestRoute;</a:t>
            </a:r>
            <a:endParaRPr b="0" lang="en-US" sz="1150" spc="-1" strike="noStrike">
              <a:solidFill>
                <a:srgbClr val="000000"/>
              </a:solidFill>
              <a:latin typeface="Arial"/>
            </a:endParaRPr>
          </a:p>
          <a:p>
            <a:pPr>
              <a:lnSpc>
                <a:spcPct val="115000"/>
              </a:lnSpc>
              <a:buNone/>
              <a:tabLst>
                <a:tab algn="l" pos="0"/>
              </a:tabLst>
            </a:pPr>
            <a:endParaRPr b="0" lang="en-US" sz="1150" spc="-1" strike="noStrike">
              <a:solidFill>
                <a:srgbClr val="000000"/>
              </a:solidFill>
              <a:latin typeface="Arial"/>
            </a:endParaRPr>
          </a:p>
          <a:p>
            <a:pPr>
              <a:lnSpc>
                <a:spcPct val="115000"/>
              </a:lnSpc>
              <a:buNone/>
              <a:tabLst>
                <a:tab algn="l" pos="0"/>
              </a:tabLst>
            </a:pPr>
            <a:r>
              <a:rPr b="0" lang="en-GB" sz="1150" spc="-1" strike="noStrike">
                <a:solidFill>
                  <a:srgbClr val="000000"/>
                </a:solidFill>
                <a:latin typeface="Arial"/>
                <a:ea typeface="Arial"/>
              </a:rPr>
              <a:t>   </a:t>
            </a:r>
            <a:endParaRPr b="0" lang="en-US" sz="1150" spc="-1" strike="noStrike">
              <a:solidFill>
                <a:srgbClr val="000000"/>
              </a:solidFill>
              <a:latin typeface="Arial"/>
            </a:endParaRPr>
          </a:p>
        </p:txBody>
      </p:sp>
      <p:sp>
        <p:nvSpPr>
          <p:cNvPr id="183" name="Google Shape;109;p21"/>
          <p:cNvSpPr/>
          <p:nvPr/>
        </p:nvSpPr>
        <p:spPr>
          <a:xfrm>
            <a:off x="1291680" y="329760"/>
            <a:ext cx="7894080" cy="461520"/>
          </a:xfrm>
          <a:prstGeom prst="rect">
            <a:avLst/>
          </a:prstGeom>
          <a:noFill/>
          <a:ln w="0">
            <a:noFill/>
          </a:ln>
        </p:spPr>
        <p:style>
          <a:lnRef idx="0"/>
          <a:fillRef idx="0"/>
          <a:effectRef idx="0"/>
          <a:fontRef idx="minor"/>
        </p:style>
      </p:sp>
      <p:sp>
        <p:nvSpPr>
          <p:cNvPr id="184" name="Straight Arrow Connector 2"/>
          <p:cNvSpPr/>
          <p:nvPr/>
        </p:nvSpPr>
        <p:spPr>
          <a:xfrm>
            <a:off x="156240" y="605160"/>
            <a:ext cx="8423640" cy="360"/>
          </a:xfrm>
          <a:custGeom>
            <a:avLst/>
            <a:gdLst/>
            <a:ahLst/>
            <a:rect l="l" t="t" r="r" b="b"/>
            <a:pathLst>
              <a:path w="21600" h="21600">
                <a:moveTo>
                  <a:pt x="0" y="0"/>
                </a:moveTo>
                <a:lnTo>
                  <a:pt x="21600" y="21600"/>
                </a:lnTo>
              </a:path>
            </a:pathLst>
          </a:custGeom>
          <a:noFill/>
          <a:ln>
            <a:solidFill>
              <a:srgbClr val="ffab40"/>
            </a:solidFill>
            <a:roun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p:nvPr>
        </p:nvSpPr>
        <p:spPr>
          <a:xfrm>
            <a:off x="180360" y="99000"/>
            <a:ext cx="8520120" cy="4957200"/>
          </a:xfrm>
          <a:prstGeom prst="rect">
            <a:avLst/>
          </a:prstGeom>
          <a:noFill/>
          <a:ln w="0">
            <a:noFill/>
          </a:ln>
        </p:spPr>
        <p:txBody>
          <a:bodyPr tIns="91440" bIns="91440" anchor="t">
            <a:noAutofit/>
          </a:bodyPr>
          <a:p>
            <a:pPr>
              <a:lnSpc>
                <a:spcPct val="95000"/>
              </a:lnSpc>
              <a:buNone/>
              <a:tabLst>
                <a:tab algn="l" pos="0"/>
              </a:tabLst>
            </a:pPr>
            <a:r>
              <a:rPr b="1" lang="en-GB" sz="1200" spc="-1" strike="noStrike">
                <a:solidFill>
                  <a:srgbClr val="000000"/>
                </a:solidFill>
                <a:latin typeface="Arial"/>
                <a:ea typeface="Arial"/>
              </a:rPr>
              <a:t>// Generate all permutations of the remaining nodes</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do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int currCost = 0;</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vector&lt;int&gt; currRoute = {0};  // Start from node 0</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int currNode = 0;</a:t>
            </a:r>
            <a:endParaRPr b="0" lang="en-US" sz="1200" spc="-1" strike="noStrike">
              <a:solidFill>
                <a:srgbClr val="000000"/>
              </a:solidFill>
              <a:latin typeface="Arial"/>
            </a:endParaRPr>
          </a:p>
          <a:p>
            <a:pPr>
              <a:lnSpc>
                <a:spcPct val="95000"/>
              </a:lnSpc>
              <a:buNone/>
              <a:tabLst>
                <a:tab algn="l" pos="0"/>
              </a:tabLst>
            </a:pP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 Calculate the cost of the current permutation</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for (int i = 0; i &lt; nodes.size(); i++)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currCost += cost[currNode][nodes[i]];</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currNode = nodes[i];</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currRoute.push_back(currNode);  // Add node to the current route</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a:t>
            </a:r>
            <a:endParaRPr b="0" lang="en-US" sz="1200" spc="-1" strike="noStrike">
              <a:solidFill>
                <a:srgbClr val="000000"/>
              </a:solidFill>
              <a:latin typeface="Arial"/>
            </a:endParaRPr>
          </a:p>
          <a:p>
            <a:pPr>
              <a:lnSpc>
                <a:spcPct val="95000"/>
              </a:lnSpc>
              <a:buNone/>
              <a:tabLst>
                <a:tab algn="l" pos="0"/>
              </a:tabLst>
            </a:pP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 Add the cost to return to the starting node</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currCost += cost[currNode][0];</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currRoute.push_back(0);  // Complete the cycle by returning to node 0</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Print the current route and its cost</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cout &lt;&lt; "Route: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for (int i = 0; i &lt; currRoute.size() - 1; i++)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cout &lt;&lt; getCityName(currRoute[i]) &lt;&lt; " --&gt;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cout &lt;&lt; getCityName(currRoute[currRoute.size() - 1]) &lt;&lt; "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cout &lt;&lt; "  ||  Cost: " &lt;&lt; currCost &lt;&lt; endl;</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Update the minimum cost if the current cost is lower</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if (currCost &lt; minCost) {</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minCost = currCost;</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bestRoute = currRoute;</a:t>
            </a:r>
            <a:endParaRPr b="0" lang="en-US" sz="1200" spc="-1" strike="noStrike">
              <a:solidFill>
                <a:srgbClr val="000000"/>
              </a:solidFill>
              <a:latin typeface="Arial"/>
            </a:endParaRPr>
          </a:p>
          <a:p>
            <a:pPr>
              <a:lnSpc>
                <a:spcPct val="95000"/>
              </a:lnSpc>
              <a:buNone/>
              <a:tabLst>
                <a:tab algn="l" pos="0"/>
              </a:tabLst>
            </a:pPr>
            <a:r>
              <a:rPr b="1" lang="en-GB" sz="1200" spc="-1" strike="noStrike">
                <a:solidFill>
                  <a:srgbClr val="000000"/>
                </a:solidFill>
                <a:latin typeface="Arial"/>
                <a:ea typeface="Arial"/>
              </a:rPr>
              <a:t>        </a:t>
            </a:r>
            <a:r>
              <a:rPr b="1" lang="en-GB" sz="1200" spc="-1" strike="noStrike">
                <a:solidFill>
                  <a:srgbClr val="000000"/>
                </a:solidFill>
                <a:latin typeface="Arial"/>
                <a:ea typeface="Arial"/>
              </a:rPr>
              <a:t>}</a:t>
            </a:r>
            <a:endParaRPr b="0" lang="en-US" sz="1200" spc="-1" strike="noStrike">
              <a:solidFill>
                <a:srgbClr val="000000"/>
              </a:solidFill>
              <a:latin typeface="Arial"/>
            </a:endParaRPr>
          </a:p>
          <a:p>
            <a:pPr>
              <a:lnSpc>
                <a:spcPct val="95000"/>
              </a:lnSpc>
              <a:buNone/>
              <a:tabLst>
                <a:tab algn="l" pos="0"/>
              </a:tabLst>
            </a:pPr>
            <a:endParaRPr b="0" lang="en-US" sz="1230" spc="-1" strike="noStrike">
              <a:solidFill>
                <a:srgbClr val="000000"/>
              </a:solidFill>
              <a:latin typeface="Arial"/>
            </a:endParaRPr>
          </a:p>
          <a:p>
            <a:pPr>
              <a:lnSpc>
                <a:spcPct val="95000"/>
              </a:lnSpc>
              <a:buNone/>
              <a:tabLst>
                <a:tab algn="l" pos="0"/>
              </a:tabLst>
            </a:pPr>
            <a:endParaRPr b="0" lang="en-US" sz="480" spc="-1" strike="noStrike">
              <a:solidFill>
                <a:srgbClr val="000000"/>
              </a:solidFill>
              <a:latin typeface="Arial"/>
            </a:endParaRPr>
          </a:p>
          <a:p>
            <a:pPr>
              <a:lnSpc>
                <a:spcPct val="95000"/>
              </a:lnSpc>
              <a:buNone/>
              <a:tabLst>
                <a:tab algn="l" pos="0"/>
              </a:tabLst>
            </a:pPr>
            <a:endParaRPr b="0" lang="en-US" sz="480" spc="-1" strike="noStrike">
              <a:solidFill>
                <a:srgbClr val="000000"/>
              </a:solidFill>
              <a:latin typeface="Arial"/>
            </a:endParaRPr>
          </a:p>
          <a:p>
            <a:pPr>
              <a:lnSpc>
                <a:spcPct val="95000"/>
              </a:lnSpc>
              <a:buNone/>
              <a:tabLst>
                <a:tab algn="l" pos="0"/>
              </a:tabLst>
            </a:pPr>
            <a:endParaRPr b="0" lang="en-US" sz="480" spc="-1" strike="noStrike">
              <a:solidFill>
                <a:srgbClr val="000000"/>
              </a:solidFill>
              <a:latin typeface="Arial"/>
            </a:endParaRPr>
          </a:p>
          <a:p>
            <a:pPr>
              <a:lnSpc>
                <a:spcPct val="95000"/>
              </a:lnSpc>
              <a:spcAft>
                <a:spcPts val="1199"/>
              </a:spcAft>
              <a:buNone/>
              <a:tabLst>
                <a:tab algn="l" pos="0"/>
              </a:tabLst>
            </a:pPr>
            <a:endParaRPr b="0" lang="en-US" sz="5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p:nvPr>
        </p:nvSpPr>
        <p:spPr>
          <a:xfrm>
            <a:off x="204120" y="267840"/>
            <a:ext cx="8628120" cy="4746600"/>
          </a:xfrm>
          <a:prstGeom prst="rect">
            <a:avLst/>
          </a:prstGeom>
          <a:noFill/>
          <a:ln w="0">
            <a:noFill/>
          </a:ln>
        </p:spPr>
        <p:txBody>
          <a:bodyPr tIns="91440" bIns="91440" anchor="t">
            <a:noAutofit/>
          </a:bodyPr>
          <a:p>
            <a:pPr>
              <a:lnSpc>
                <a:spcPct val="95000"/>
              </a:lnSpc>
              <a:buNone/>
              <a:tabLst>
                <a:tab algn="l" pos="0"/>
              </a:tabLst>
            </a:pPr>
            <a:r>
              <a:rPr b="1" lang="en-GB" sz="1070" spc="-1" strike="noStrike">
                <a:solidFill>
                  <a:srgbClr val="000000"/>
                </a:solidFill>
                <a:latin typeface="Arial"/>
                <a:ea typeface="Arial"/>
              </a:rPr>
              <a:t> </a:t>
            </a:r>
            <a:r>
              <a:rPr b="1" lang="en-GB" sz="1340" spc="-1" strike="noStrike">
                <a:solidFill>
                  <a:srgbClr val="000000"/>
                </a:solidFill>
                <a:latin typeface="Arial"/>
                <a:ea typeface="Arial"/>
              </a:rPr>
              <a:t>} while (next_permutation(nodes.begin(), nodes.end()));</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 Print the best route and the minimum cost</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cout &lt;&lt; "\nBest Route: ";</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for (int i = 0; i &lt; bestRoute.size() - 1; i++) {</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cout &lt;&lt; getCityName(bestRoute[i]) &lt;&lt; " --&gt;  ";</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cout &lt;&lt; getCityName(bestRoute[bestRoute.size() - 1]) &lt;&lt; "   ";</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return minCost;</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int main() {</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vector&lt;vector&lt;int&gt;&gt; cost = {{0, 5, 7, 3},</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{2, 0, 4, 2},</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{5, 2, 0, 3},</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{4, 2, 3, 0}};</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int res = tsp(cost);</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cout &lt;&lt; "\nMinimum Cost: " &lt;&lt; res &lt;&lt; endl;</a:t>
            </a:r>
            <a:endParaRPr b="0" lang="en-US" sz="1340" spc="-1" strike="noStrike">
              <a:solidFill>
                <a:srgbClr val="000000"/>
              </a:solidFill>
              <a:latin typeface="Arial"/>
            </a:endParaRPr>
          </a:p>
          <a:p>
            <a:pPr>
              <a:lnSpc>
                <a:spcPct val="95000"/>
              </a:lnSpc>
              <a:buNone/>
              <a:tabLst>
                <a:tab algn="l" pos="0"/>
              </a:tabLst>
            </a:pP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    </a:t>
            </a:r>
            <a:r>
              <a:rPr b="1" lang="en-GB" sz="1340" spc="-1" strike="noStrike">
                <a:solidFill>
                  <a:srgbClr val="000000"/>
                </a:solidFill>
                <a:latin typeface="Arial"/>
                <a:ea typeface="Arial"/>
              </a:rPr>
              <a:t>return 0;</a:t>
            </a:r>
            <a:endParaRPr b="0" lang="en-US" sz="1340" spc="-1" strike="noStrike">
              <a:solidFill>
                <a:srgbClr val="000000"/>
              </a:solidFill>
              <a:latin typeface="Arial"/>
            </a:endParaRPr>
          </a:p>
          <a:p>
            <a:pPr>
              <a:lnSpc>
                <a:spcPct val="95000"/>
              </a:lnSpc>
              <a:buNone/>
              <a:tabLst>
                <a:tab algn="l" pos="0"/>
              </a:tabLst>
            </a:pPr>
            <a:r>
              <a:rPr b="1" lang="en-GB" sz="1340" spc="-1" strike="noStrike">
                <a:solidFill>
                  <a:srgbClr val="000000"/>
                </a:solidFill>
                <a:latin typeface="Arial"/>
                <a:ea typeface="Arial"/>
              </a:rPr>
              <a:t>}</a:t>
            </a:r>
            <a:endParaRPr b="0" lang="en-US" sz="1340" spc="-1" strike="noStrike">
              <a:solidFill>
                <a:srgbClr val="000000"/>
              </a:solidFill>
              <a:latin typeface="Arial"/>
            </a:endParaRPr>
          </a:p>
          <a:p>
            <a:pPr>
              <a:lnSpc>
                <a:spcPct val="95000"/>
              </a:lnSpc>
              <a:spcAft>
                <a:spcPts val="1199"/>
              </a:spcAft>
              <a:buNone/>
              <a:tabLst>
                <a:tab algn="l" pos="0"/>
              </a:tabLst>
            </a:pPr>
            <a:endParaRPr b="0" lang="en-US" sz="179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Picture 6" descr=""/>
          <p:cNvPicPr/>
          <p:nvPr/>
        </p:nvPicPr>
        <p:blipFill>
          <a:blip r:embed="rId1"/>
          <a:stretch/>
        </p:blipFill>
        <p:spPr>
          <a:xfrm>
            <a:off x="0" y="0"/>
            <a:ext cx="9143640" cy="5143320"/>
          </a:xfrm>
          <a:prstGeom prst="rect">
            <a:avLst/>
          </a:prstGeom>
          <a:ln w="0">
            <a:noFill/>
          </a:ln>
        </p:spPr>
      </p:pic>
      <p:pic>
        <p:nvPicPr>
          <p:cNvPr id="188" name="Picture 4" descr=""/>
          <p:cNvPicPr/>
          <p:nvPr/>
        </p:nvPicPr>
        <p:blipFill>
          <a:blip r:embed="rId2"/>
          <a:stretch/>
        </p:blipFill>
        <p:spPr>
          <a:xfrm>
            <a:off x="3323520" y="556560"/>
            <a:ext cx="5582160" cy="3619800"/>
          </a:xfrm>
          <a:prstGeom prst="rect">
            <a:avLst/>
          </a:prstGeom>
          <a:ln w="0">
            <a:noFill/>
          </a:ln>
        </p:spPr>
      </p:pic>
      <p:sp>
        <p:nvSpPr>
          <p:cNvPr id="189" name="TextBox 7"/>
          <p:cNvSpPr/>
          <p:nvPr/>
        </p:nvSpPr>
        <p:spPr>
          <a:xfrm>
            <a:off x="0" y="1660680"/>
            <a:ext cx="291708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400" spc="-1" strike="noStrike" u="sng">
                <a:solidFill>
                  <a:srgbClr val="ffffff"/>
                </a:solidFill>
                <a:uFillTx/>
                <a:latin typeface="Arial"/>
                <a:ea typeface="Arial"/>
              </a:rPr>
              <a:t>Output of the Code:</a:t>
            </a:r>
            <a:endParaRPr b="0" lang="en-US" sz="2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Box 3"/>
          <p:cNvSpPr/>
          <p:nvPr/>
        </p:nvSpPr>
        <p:spPr>
          <a:xfrm>
            <a:off x="1737360" y="784800"/>
            <a:ext cx="6910560" cy="30142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1400" spc="-1" strike="noStrike">
                <a:solidFill>
                  <a:srgbClr val="000000"/>
                </a:solidFill>
                <a:latin typeface="Arial"/>
                <a:ea typeface="Arial"/>
              </a:rPr>
              <a:t> </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0" lang="en-US" sz="3600" spc="-1" strike="noStrike">
                <a:solidFill>
                  <a:srgbClr val="000000"/>
                </a:solidFill>
                <a:latin typeface="Arial"/>
                <a:ea typeface="Arial"/>
              </a:rPr>
              <a:t>                             </a:t>
            </a:r>
            <a:r>
              <a:rPr b="0" lang="en-US" sz="3600" spc="-1" strike="noStrike">
                <a:solidFill>
                  <a:srgbClr val="000000"/>
                </a:solidFill>
                <a:latin typeface="Arial"/>
                <a:ea typeface="Arial"/>
              </a:rPr>
              <a:t>Thank You</a:t>
            </a:r>
            <a:endParaRPr b="0" lang="en-US" sz="3600" spc="-1" strike="noStrike">
              <a:latin typeface="Arial"/>
            </a:endParaRPr>
          </a:p>
          <a:p>
            <a:pPr>
              <a:lnSpc>
                <a:spcPct val="100000"/>
              </a:lnSpc>
              <a:buNone/>
            </a:pPr>
            <a:endParaRPr b="0" lang="en-US" sz="3600" spc="-1" strike="noStrike">
              <a:latin typeface="Arial"/>
            </a:endParaRPr>
          </a:p>
          <a:p>
            <a:pPr>
              <a:lnSpc>
                <a:spcPct val="100000"/>
              </a:lnSpc>
              <a:buNone/>
            </a:pPr>
            <a:r>
              <a:rPr b="0" lang="en-US" sz="3600" spc="-1" strike="noStrike">
                <a:solidFill>
                  <a:srgbClr val="ffffff"/>
                </a:solidFill>
                <a:latin typeface="Arial"/>
                <a:ea typeface="Arial"/>
              </a:rPr>
              <a:t>                              </a:t>
            </a:r>
            <a:r>
              <a:rPr b="0" lang="en-US" sz="3600" spc="-1" strike="noStrike">
                <a:solidFill>
                  <a:srgbClr val="ffffff"/>
                </a:solidFill>
                <a:latin typeface="Arial"/>
                <a:ea typeface="Arial"/>
              </a:rPr>
              <a:t>-  - </a:t>
            </a:r>
            <a:r>
              <a:rPr b="0" i="1" lang="en-US" sz="2000" spc="-1" strike="noStrike">
                <a:solidFill>
                  <a:srgbClr val="ffffff"/>
                </a:solidFill>
                <a:latin typeface="Arial"/>
                <a:ea typeface="Arial"/>
              </a:rPr>
              <a:t>s question?</a:t>
            </a:r>
            <a:endParaRPr b="0" lang="en-US" sz="2000" spc="-1" strike="noStrike">
              <a:latin typeface="Arial"/>
            </a:endParaRPr>
          </a:p>
        </p:txBody>
      </p:sp>
      <p:pic>
        <p:nvPicPr>
          <p:cNvPr id="191" name="Picture 4" descr="The Traveling Salesman Problem in Computation Video"/>
          <p:cNvPicPr/>
          <p:nvPr/>
        </p:nvPicPr>
        <p:blipFill>
          <a:blip r:embed="rId1"/>
          <a:stretch/>
        </p:blipFill>
        <p:spPr>
          <a:xfrm>
            <a:off x="353880" y="1406880"/>
            <a:ext cx="4802400" cy="2700000"/>
          </a:xfrm>
          <a:prstGeom prst="rect">
            <a:avLst/>
          </a:prstGeom>
          <a:ln w="0">
            <a:noFill/>
          </a:ln>
        </p:spPr>
      </p:pic>
      <p:sp>
        <p:nvSpPr>
          <p:cNvPr id="192" name="TextBox 6"/>
          <p:cNvSpPr/>
          <p:nvPr/>
        </p:nvSpPr>
        <p:spPr>
          <a:xfrm>
            <a:off x="6633720" y="2848320"/>
            <a:ext cx="2156040" cy="4554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Arial"/>
                <a:ea typeface="Arial"/>
              </a:rPr>
              <a:t>- </a:t>
            </a:r>
            <a:r>
              <a:rPr b="0" lang="en-US" sz="2000" spc="-1" strike="noStrike">
                <a:solidFill>
                  <a:srgbClr val="000000"/>
                </a:solidFill>
                <a:latin typeface="Arial"/>
                <a:ea typeface="Arial"/>
              </a:rPr>
              <a:t>Any Question</a:t>
            </a:r>
            <a:r>
              <a:rPr b="0" lang="en-US" sz="2400" spc="-1" strike="noStrike">
                <a:solidFill>
                  <a:srgbClr val="000000"/>
                </a:solidFill>
                <a:latin typeface="Arial"/>
                <a:ea typeface="Arial"/>
              </a:rPr>
              <a:t>?</a:t>
            </a:r>
            <a:endParaRPr b="0" lang="en-US" sz="2400" spc="-1" strike="noStrike">
              <a:latin typeface="Arial"/>
            </a:endParaRPr>
          </a:p>
        </p:txBody>
      </p:sp>
      <p:sp>
        <p:nvSpPr>
          <p:cNvPr id="193" name="Straight Arrow Connector 8"/>
          <p:cNvSpPr/>
          <p:nvPr/>
        </p:nvSpPr>
        <p:spPr>
          <a:xfrm>
            <a:off x="434520" y="640080"/>
            <a:ext cx="8355240" cy="360"/>
          </a:xfrm>
          <a:custGeom>
            <a:avLst/>
            <a:gdLst/>
            <a:ahLst/>
            <a:rect l="l" t="t" r="r" b="b"/>
            <a:pathLst>
              <a:path w="21600" h="21600">
                <a:moveTo>
                  <a:pt x="0" y="0"/>
                </a:moveTo>
                <a:lnTo>
                  <a:pt x="21600" y="21600"/>
                </a:lnTo>
              </a:path>
            </a:pathLst>
          </a:custGeom>
          <a:noFill/>
          <a:ln>
            <a:solidFill>
              <a:srgbClr val="3c81f2"/>
            </a:solidFill>
            <a:round/>
            <a:headEnd len="med" type="triangle" w="med"/>
            <a:tailEnd len="med" type="triangle" w="med"/>
          </a:ln>
        </p:spPr>
        <p:style>
          <a:lnRef idx="1">
            <a:schemeClr val="accent1"/>
          </a:lnRef>
          <a:fillRef idx="0">
            <a:schemeClr val="accent1"/>
          </a:fillRef>
          <a:effectRef idx="0">
            <a:schemeClr val="accent1"/>
          </a:effectRef>
          <a:fontRef idx="minor"/>
        </p:style>
      </p:sp>
      <p:sp>
        <p:nvSpPr>
          <p:cNvPr id="194" name="Straight Arrow Connector 10"/>
          <p:cNvSpPr/>
          <p:nvPr/>
        </p:nvSpPr>
        <p:spPr>
          <a:xfrm>
            <a:off x="236160" y="4701600"/>
            <a:ext cx="8640720" cy="360"/>
          </a:xfrm>
          <a:custGeom>
            <a:avLst/>
            <a:gdLst/>
            <a:ahLst/>
            <a:rect l="l" t="t" r="r" b="b"/>
            <a:pathLst>
              <a:path w="21600" h="21600">
                <a:moveTo>
                  <a:pt x="0" y="0"/>
                </a:moveTo>
                <a:lnTo>
                  <a:pt x="21600" y="21600"/>
                </a:lnTo>
              </a:path>
            </a:pathLst>
          </a:custGeom>
          <a:noFill/>
          <a:ln>
            <a:solidFill>
              <a:srgbClr val="3c81f2"/>
            </a:solidFill>
            <a:round/>
            <a:tailEnd len="med" type="triangle" w="med"/>
          </a:ln>
        </p:spPr>
        <p:style>
          <a:lnRef idx="1">
            <a:schemeClr val="accent1"/>
          </a:lnRef>
          <a:fillRef idx="0">
            <a:schemeClr val="accent1"/>
          </a:fillRef>
          <a:effectRef idx="0">
            <a:schemeClr val="accent1"/>
          </a:effectRef>
          <a:fontRef idx="minor"/>
        </p:style>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189</TotalTime>
  <Application>PPTXPresentationEditor/1.1.0.0$MacOSX_AARCH64 LibreOffice_project/e114eadc50a9ff8d8c8a0567d6da8f454beeb84f</Application>
  <AppVersion>15.0000</AppVersion>
  <Words>1087</Words>
  <Paragraphs>155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dc:description/>
  <dc:language>en-US</dc:language>
  <cp:lastModifiedBy/>
  <dcterms:modified xsi:type="dcterms:W3CDTF">2026-01-03T23:29:00Z</dcterms:modified>
  <cp:revision>5</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11</vt:i4>
  </property>
  <property fmtid="{D5CDD505-2E9C-101B-9397-08002B2CF9AE}" pid="3" name="PresentationFormat">
    <vt:lpwstr>On-screen Show (16:9)</vt:lpwstr>
  </property>
  <property fmtid="{D5CDD505-2E9C-101B-9397-08002B2CF9AE}" pid="4" name="Slides">
    <vt:i4>14</vt:i4>
  </property>
</Properties>
</file>